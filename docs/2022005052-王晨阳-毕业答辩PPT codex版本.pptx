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t>不同检测方法 F1-score 对比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F1-score</c:v>
          </c:tx>
          <c:invertIfNegative val="1"/>
          <c:cat>
            <c:strLit>
              <c:ptCount val="3"/>
              <c:pt idx="0">
                <c:v>固定阈值</c:v>
              </c:pt>
              <c:pt idx="1">
                <c:v>3-Sigma</c:v>
              </c:pt>
              <c:pt idx="2">
                <c:v>LSTM AE</c:v>
              </c:pt>
            </c:strLit>
          </c:cat>
          <c:val>
            <c:numLit>
              <c:formatCode>General</c:formatCode>
              <c:ptCount val="3"/>
              <c:pt idx="0">
                <c:v>0.74</c:v>
              </c:pt>
              <c:pt idx="1">
                <c:v>0.80900000000000005</c:v>
              </c:pt>
              <c:pt idx="2">
                <c:v>0.85199999999999998</c:v>
              </c:pt>
            </c:numLit>
          </c:val>
          <c:extLst>
            <c:ext xmlns:c16="http://schemas.microsoft.com/office/drawing/2014/chart" uri="{C3380CC4-5D6E-409C-BE32-E72D297353CC}">
              <c16:uniqueId val="{00000000-4F65-4952-917E-C99631E1A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rPr lang="zh-CN" altLang="en-US"/>
              <a:t>不同阈值下 </a:t>
            </a:r>
            <a:r>
              <a:rPr lang="en-US"/>
              <a:t>Precision / Recall / F1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Precision</c:v>
          </c:tx>
          <c:cat>
            <c:strLit>
              <c:ptCount val="7"/>
              <c:pt idx="0">
                <c:v>80%</c:v>
              </c:pt>
              <c:pt idx="1">
                <c:v>85%</c:v>
              </c:pt>
              <c:pt idx="2">
                <c:v>90%</c:v>
              </c:pt>
              <c:pt idx="3">
                <c:v>92%</c:v>
              </c:pt>
              <c:pt idx="4">
                <c:v>95%</c:v>
              </c:pt>
              <c:pt idx="5">
                <c:v>97%</c:v>
              </c:pt>
              <c:pt idx="6">
                <c:v>99%</c:v>
              </c:pt>
            </c:strLit>
          </c:cat>
          <c:val>
            <c:numLit>
              <c:formatCode>General</c:formatCode>
              <c:ptCount val="7"/>
              <c:pt idx="0">
                <c:v>0.72399999999999998</c:v>
              </c:pt>
              <c:pt idx="1">
                <c:v>0.77500000000000002</c:v>
              </c:pt>
              <c:pt idx="2">
                <c:v>0.83199999999999996</c:v>
              </c:pt>
              <c:pt idx="3">
                <c:v>0.85799999999999998</c:v>
              </c:pt>
              <c:pt idx="4">
                <c:v>0.90100000000000002</c:v>
              </c:pt>
              <c:pt idx="5">
                <c:v>0.93400000000000005</c:v>
              </c:pt>
              <c:pt idx="6">
                <c:v>0.97199999999999998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866-4045-8AB3-39BD87D0246D}"/>
            </c:ext>
          </c:extLst>
        </c:ser>
        <c:ser>
          <c:idx val="1"/>
          <c:order val="1"/>
          <c:tx>
            <c:v>Recall</c:v>
          </c:tx>
          <c:cat>
            <c:strLit>
              <c:ptCount val="7"/>
              <c:pt idx="0">
                <c:v>80%</c:v>
              </c:pt>
              <c:pt idx="1">
                <c:v>85%</c:v>
              </c:pt>
              <c:pt idx="2">
                <c:v>90%</c:v>
              </c:pt>
              <c:pt idx="3">
                <c:v>92%</c:v>
              </c:pt>
              <c:pt idx="4">
                <c:v>95%</c:v>
              </c:pt>
              <c:pt idx="5">
                <c:v>97%</c:v>
              </c:pt>
              <c:pt idx="6">
                <c:v>99%</c:v>
              </c:pt>
            </c:strLit>
          </c:cat>
          <c:val>
            <c:numLit>
              <c:formatCode>General</c:formatCode>
              <c:ptCount val="7"/>
              <c:pt idx="0">
                <c:v>0.91500000000000004</c:v>
              </c:pt>
              <c:pt idx="1">
                <c:v>0.90400000000000003</c:v>
              </c:pt>
              <c:pt idx="2">
                <c:v>0.86799999999999999</c:v>
              </c:pt>
              <c:pt idx="3">
                <c:v>0.84599999999999997</c:v>
              </c:pt>
              <c:pt idx="4">
                <c:v>0.79800000000000004</c:v>
              </c:pt>
              <c:pt idx="5">
                <c:v>0.746</c:v>
              </c:pt>
              <c:pt idx="6">
                <c:v>0.624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866-4045-8AB3-39BD87D0246D}"/>
            </c:ext>
          </c:extLst>
        </c:ser>
        <c:ser>
          <c:idx val="2"/>
          <c:order val="2"/>
          <c:tx>
            <c:v>F1-score</c:v>
          </c:tx>
          <c:cat>
            <c:strLit>
              <c:ptCount val="7"/>
              <c:pt idx="0">
                <c:v>80%</c:v>
              </c:pt>
              <c:pt idx="1">
                <c:v>85%</c:v>
              </c:pt>
              <c:pt idx="2">
                <c:v>90%</c:v>
              </c:pt>
              <c:pt idx="3">
                <c:v>92%</c:v>
              </c:pt>
              <c:pt idx="4">
                <c:v>95%</c:v>
              </c:pt>
              <c:pt idx="5">
                <c:v>97%</c:v>
              </c:pt>
              <c:pt idx="6">
                <c:v>99%</c:v>
              </c:pt>
            </c:strLit>
          </c:cat>
          <c:val>
            <c:numLit>
              <c:formatCode>General</c:formatCode>
              <c:ptCount val="7"/>
              <c:pt idx="0">
                <c:v>0.80800000000000005</c:v>
              </c:pt>
              <c:pt idx="1">
                <c:v>0.83499999999999996</c:v>
              </c:pt>
              <c:pt idx="2">
                <c:v>0.85</c:v>
              </c:pt>
              <c:pt idx="3">
                <c:v>0.85199999999999998</c:v>
              </c:pt>
              <c:pt idx="4">
                <c:v>0.84699999999999998</c:v>
              </c:pt>
              <c:pt idx="5">
                <c:v>0.82899999999999996</c:v>
              </c:pt>
              <c:pt idx="6">
                <c:v>0.76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866-4045-8AB3-39BD87D02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t>持续训练前后 Accuracy 与 F1-score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invertIfNegative val="1"/>
          <c:cat>
            <c:strLit>
              <c:ptCount val="3"/>
              <c:pt idx="0">
                <c:v>偏移前原始模型</c:v>
              </c:pt>
              <c:pt idx="1">
                <c:v>偏移后原始模型</c:v>
              </c:pt>
              <c:pt idx="2">
                <c:v>持续训练后新模型</c:v>
              </c:pt>
            </c:strLit>
          </c:cat>
          <c:val>
            <c:numLit>
              <c:formatCode>General</c:formatCode>
              <c:ptCount val="3"/>
              <c:pt idx="0">
                <c:v>0.82599999999999996</c:v>
              </c:pt>
              <c:pt idx="1">
                <c:v>0.78100000000000003</c:v>
              </c:pt>
              <c:pt idx="2">
                <c:v>0.84599999999999997</c:v>
              </c:pt>
            </c:numLit>
          </c:val>
          <c:extLst>
            <c:ext xmlns:c16="http://schemas.microsoft.com/office/drawing/2014/chart" uri="{C3380CC4-5D6E-409C-BE32-E72D297353CC}">
              <c16:uniqueId val="{00000000-A5E5-4587-A67E-78D9FAB74A77}"/>
            </c:ext>
          </c:extLst>
        </c:ser>
        <c:ser>
          <c:idx val="1"/>
          <c:order val="1"/>
          <c:tx>
            <c:v>F1-score</c:v>
          </c:tx>
          <c:invertIfNegative val="1"/>
          <c:cat>
            <c:strLit>
              <c:ptCount val="3"/>
              <c:pt idx="0">
                <c:v>偏移前原始模型</c:v>
              </c:pt>
              <c:pt idx="1">
                <c:v>偏移后原始模型</c:v>
              </c:pt>
              <c:pt idx="2">
                <c:v>持续训练后新模型</c:v>
              </c:pt>
            </c:strLit>
          </c:cat>
          <c:val>
            <c:numLit>
              <c:formatCode>General</c:formatCode>
              <c:ptCount val="3"/>
              <c:pt idx="0">
                <c:v>0.68899999999999995</c:v>
              </c:pt>
              <c:pt idx="1">
                <c:v>0.63200000000000001</c:v>
              </c:pt>
              <c:pt idx="2">
                <c:v>0.72099999999999997</c:v>
              </c:pt>
            </c:numLit>
          </c:val>
          <c:extLst>
            <c:ext xmlns:c16="http://schemas.microsoft.com/office/drawing/2014/chart" uri="{C3380CC4-5D6E-409C-BE32-E72D297353CC}">
              <c16:uniqueId val="{00000001-A5E5-4587-A67E-78D9FAB74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rPr lang="zh-CN" altLang="en-US"/>
              <a:t>异常窗口原始流量与重构流量示意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原始流量</c:v>
          </c:tx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General</c:formatCode>
              <c:ptCount val="10"/>
              <c:pt idx="0">
                <c:v>0.28000000000000003</c:v>
              </c:pt>
              <c:pt idx="1">
                <c:v>0.3</c:v>
              </c:pt>
              <c:pt idx="2">
                <c:v>0.32</c:v>
              </c:pt>
              <c:pt idx="3">
                <c:v>0.31</c:v>
              </c:pt>
              <c:pt idx="4">
                <c:v>0.34</c:v>
              </c:pt>
              <c:pt idx="5">
                <c:v>0.33</c:v>
              </c:pt>
              <c:pt idx="6">
                <c:v>1.42</c:v>
              </c:pt>
              <c:pt idx="7">
                <c:v>1.55</c:v>
              </c:pt>
              <c:pt idx="8">
                <c:v>0.36</c:v>
              </c:pt>
              <c:pt idx="9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2C4-4578-8273-B0A5293044A5}"/>
            </c:ext>
          </c:extLst>
        </c:ser>
        <c:ser>
          <c:idx val="1"/>
          <c:order val="1"/>
          <c:tx>
            <c:v>模型重构</c:v>
          </c:tx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General</c:formatCode>
              <c:ptCount val="10"/>
              <c:pt idx="0">
                <c:v>0.28999999999999998</c:v>
              </c:pt>
              <c:pt idx="1">
                <c:v>0.3</c:v>
              </c:pt>
              <c:pt idx="2">
                <c:v>0.31</c:v>
              </c:pt>
              <c:pt idx="3">
                <c:v>0.31</c:v>
              </c:pt>
              <c:pt idx="4">
                <c:v>0.33</c:v>
              </c:pt>
              <c:pt idx="5">
                <c:v>0.34</c:v>
              </c:pt>
              <c:pt idx="6">
                <c:v>0.36</c:v>
              </c:pt>
              <c:pt idx="7">
                <c:v>0.35</c:v>
              </c:pt>
              <c:pt idx="8">
                <c:v>0.34</c:v>
              </c:pt>
              <c:pt idx="9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2C4-4578-8273-B0A529304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CB15CB1-F266-47DF-A3C0-A22F9A728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0DD4433-5C11-4C37-BF0A-CE9E93969C03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1638300" cy="346710"/>
          </a:xfrm>
          <a:prstGeom prst="roundRect">
            <a:avLst>
              <a:gd name="adj" fmla="val 50000"/>
            </a:avLst>
          </a:prstGeom>
          <a:solidFill>
            <a:srgbClr val="0E9488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A64FEC-999D-403E-BE19-04627611B10F}"/>
              </a:ext>
            </a:extLst>
          </p:cNvPr>
          <p:cNvSpPr>
            <a:spLocks noGrp="1"/>
          </p:cNvSpPr>
          <p:nvPr/>
        </p:nvSpPr>
        <p:spPr>
          <a:xfrm>
            <a:off x="1085850" y="3371850"/>
            <a:ext cx="129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本科毕业设计答辩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4DEC42-B736-477D-A5C7-3CFEC558E49A}"/>
              </a:ext>
            </a:extLst>
          </p:cNvPr>
          <p:cNvSpPr>
            <a:spLocks noGrp="1"/>
          </p:cNvSpPr>
          <p:nvPr/>
        </p:nvSpPr>
        <p:spPr>
          <a:xfrm>
            <a:off x="2686050" y="3295650"/>
            <a:ext cx="1638300" cy="346710"/>
          </a:xfrm>
          <a:prstGeom prst="roundRect">
            <a:avLst>
              <a:gd name="adj" fmla="val 50000"/>
            </a:avLst>
          </a:prstGeom>
          <a:solidFill>
            <a:srgbClr val="E99B24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EC48E-8210-4C10-8871-65CAB094D078}"/>
              </a:ext>
            </a:extLst>
          </p:cNvPr>
          <p:cNvSpPr>
            <a:spLocks noGrp="1"/>
          </p:cNvSpPr>
          <p:nvPr/>
        </p:nvSpPr>
        <p:spPr>
          <a:xfrm>
            <a:off x="2857500" y="3371850"/>
            <a:ext cx="129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深度学习异常检测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C489AD-A2B1-4876-A409-7188EF841FB4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9563100" cy="1600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基于深度学习的物联网智能燃气表数据异常检测系统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F171B-66D1-4D07-A758-54549CC3EA0A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2476500" cy="57150"/>
          </a:xfrm>
          <a:prstGeom prst="rect">
            <a:avLst/>
          </a:prstGeom>
          <a:solidFill>
            <a:srgbClr val="E99B24"/>
          </a:solidFill>
          <a:ln w="0">
            <a:solidFill>
              <a:srgbClr val="E99B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8048B9-FEEC-4EB8-8C44-C345E4D4622C}"/>
              </a:ext>
            </a:extLst>
          </p:cNvPr>
          <p:cNvSpPr>
            <a:spLocks noGrp="1"/>
          </p:cNvSpPr>
          <p:nvPr/>
        </p:nvSpPr>
        <p:spPr>
          <a:xfrm>
            <a:off x="914400" y="6096000"/>
            <a:ext cx="7448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C9D9E8"/>
                </a:solidFill>
              </a:defRPr>
            </a:pPr>
            <a:r>
              <a:rPr sz="2175">
                <a:solidFill>
                  <a:srgbClr val="C9D9E8"/>
                </a:solidFill>
              </a:rPr>
              <a:t>LSTM AutoEncoder 驱动的多维时序重构、异常评分与运维闭环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3A9CFA9-0587-4803-AB56-3AB1366035DF}"/>
              </a:ext>
            </a:extLst>
          </p:cNvPr>
          <p:cNvSpPr>
            <a:spLocks noGrp="1"/>
          </p:cNvSpPr>
          <p:nvPr/>
        </p:nvSpPr>
        <p:spPr>
          <a:xfrm>
            <a:off x="11003280" y="742950"/>
            <a:ext cx="6370320" cy="8241030"/>
          </a:xfrm>
          <a:prstGeom prst="roundRect">
            <a:avLst>
              <a:gd name="adj" fmla="val 598"/>
            </a:avLst>
          </a:prstGeom>
          <a:solidFill>
            <a:srgbClr val="0F365D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2BE42B-82AE-4010-BF41-CD1B1A5A7FA7}"/>
              </a:ext>
            </a:extLst>
          </p:cNvPr>
          <p:cNvSpPr>
            <a:spLocks noGrp="1"/>
          </p:cNvSpPr>
          <p:nvPr/>
        </p:nvSpPr>
        <p:spPr>
          <a:xfrm>
            <a:off x="11410950" y="2514600"/>
            <a:ext cx="5562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E99B24"/>
                </a:solidFill>
              </a:defRPr>
            </a:pPr>
            <a:r>
              <a:rPr sz="4200" b="1">
                <a:solidFill>
                  <a:srgbClr val="E99B24"/>
                </a:solidFill>
              </a:rPr>
              <a:t>24×7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87652D-E3A9-4C23-80B9-E6AE2F46FED4}"/>
              </a:ext>
            </a:extLst>
          </p:cNvPr>
          <p:cNvSpPr>
            <a:spLocks noGrp="1"/>
          </p:cNvSpPr>
          <p:nvPr/>
        </p:nvSpPr>
        <p:spPr>
          <a:xfrm>
            <a:off x="11410950" y="3238500"/>
            <a:ext cx="5562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输入窗口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EF8D51-A06E-4544-82EF-BD2DDD3AB072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5562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24 个时间步，7 个燃气表特征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A35FB2-4C9B-4F43-9E16-B16C1FF4FA6C}"/>
              </a:ext>
            </a:extLst>
          </p:cNvPr>
          <p:cNvSpPr>
            <a:spLocks noGrp="1"/>
          </p:cNvSpPr>
          <p:nvPr/>
        </p:nvSpPr>
        <p:spPr>
          <a:xfrm>
            <a:off x="11410950" y="3981450"/>
            <a:ext cx="5562600" cy="19050"/>
          </a:xfrm>
          <a:prstGeom prst="rect">
            <a:avLst/>
          </a:prstGeom>
          <a:solidFill>
            <a:srgbClr val="315E86"/>
          </a:solidFill>
          <a:ln w="0">
            <a:solidFill>
              <a:srgbClr val="315E8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3E37E2-3CFD-42DB-8CA8-FD01B4BCD455}"/>
              </a:ext>
            </a:extLst>
          </p:cNvPr>
          <p:cNvSpPr>
            <a:spLocks noGrp="1"/>
          </p:cNvSpPr>
          <p:nvPr/>
        </p:nvSpPr>
        <p:spPr>
          <a:xfrm>
            <a:off x="11410950" y="4267200"/>
            <a:ext cx="5562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E9488"/>
                </a:solidFill>
              </a:defRPr>
            </a:pPr>
            <a:r>
              <a:rPr sz="4200" b="1">
                <a:solidFill>
                  <a:srgbClr val="0E9488"/>
                </a:solidFill>
              </a:rPr>
              <a:t>LSTM AE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61DDD8-0AAF-4930-9B89-BEE1E516C66C}"/>
              </a:ext>
            </a:extLst>
          </p:cNvPr>
          <p:cNvSpPr>
            <a:spLocks noGrp="1"/>
          </p:cNvSpPr>
          <p:nvPr/>
        </p:nvSpPr>
        <p:spPr>
          <a:xfrm>
            <a:off x="11410950" y="4991100"/>
            <a:ext cx="5562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模型结构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262A5E-91A5-4769-AF98-78275A7CFF5B}"/>
              </a:ext>
            </a:extLst>
          </p:cNvPr>
          <p:cNvSpPr>
            <a:spLocks noGrp="1"/>
          </p:cNvSpPr>
          <p:nvPr/>
        </p:nvSpPr>
        <p:spPr>
          <a:xfrm>
            <a:off x="11410950" y="5295900"/>
            <a:ext cx="5562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编码、压缩、重构正常时序模式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AC2BF2-D1AA-4B54-9FC5-7172C4257EB6}"/>
              </a:ext>
            </a:extLst>
          </p:cNvPr>
          <p:cNvSpPr>
            <a:spLocks noGrp="1"/>
          </p:cNvSpPr>
          <p:nvPr/>
        </p:nvSpPr>
        <p:spPr>
          <a:xfrm>
            <a:off x="11410950" y="5734050"/>
            <a:ext cx="5562600" cy="19050"/>
          </a:xfrm>
          <a:prstGeom prst="rect">
            <a:avLst/>
          </a:prstGeom>
          <a:solidFill>
            <a:srgbClr val="315E86"/>
          </a:solidFill>
          <a:ln w="0">
            <a:solidFill>
              <a:srgbClr val="315E8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C254D1-A75D-417F-98DA-75B804C20415}"/>
              </a:ext>
            </a:extLst>
          </p:cNvPr>
          <p:cNvSpPr>
            <a:spLocks noGrp="1"/>
          </p:cNvSpPr>
          <p:nvPr/>
        </p:nvSpPr>
        <p:spPr>
          <a:xfrm>
            <a:off x="11410950" y="6019800"/>
            <a:ext cx="5562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2B9C61"/>
                </a:solidFill>
              </a:defRPr>
            </a:pPr>
            <a:r>
              <a:rPr sz="4200" b="1">
                <a:solidFill>
                  <a:srgbClr val="2B9C61"/>
                </a:solidFill>
              </a:rPr>
              <a:t>0.68s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5666CB-AE8F-4971-9D21-1886F503BE3D}"/>
              </a:ext>
            </a:extLst>
          </p:cNvPr>
          <p:cNvSpPr>
            <a:spLocks noGrp="1"/>
          </p:cNvSpPr>
          <p:nvPr/>
        </p:nvSpPr>
        <p:spPr>
          <a:xfrm>
            <a:off x="11410950" y="6724650"/>
            <a:ext cx="5562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端到端响应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05395A-4C8E-471A-8A8F-F9582F0CC4A3}"/>
              </a:ext>
            </a:extLst>
          </p:cNvPr>
          <p:cNvSpPr>
            <a:spLocks noGrp="1"/>
          </p:cNvSpPr>
          <p:nvPr/>
        </p:nvSpPr>
        <p:spPr>
          <a:xfrm>
            <a:off x="11410950" y="7029450"/>
            <a:ext cx="5562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平均从上报到前端告警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F461A8-1F7F-4488-806D-AEDF4D69F515}"/>
              </a:ext>
            </a:extLst>
          </p:cNvPr>
          <p:cNvSpPr>
            <a:spLocks noGrp="1"/>
          </p:cNvSpPr>
          <p:nvPr/>
        </p:nvSpPr>
        <p:spPr>
          <a:xfrm>
            <a:off x="914400" y="92773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DCE8F4"/>
                </a:solidFill>
              </a:defRPr>
            </a:pPr>
            <a:r>
              <a:rPr sz="1800">
                <a:solidFill>
                  <a:srgbClr val="DCE8F4"/>
                </a:solidFill>
              </a:rPr>
              <a:t>答辩人：王晨阳    学号：2022005052    专业：软件工程</a:t>
            </a:r>
          </a:p>
        </p:txBody>
      </p:sp>
    </p:spTree>
    <p:extLst>
      <p:ext uri="{BB962C8B-B14F-4D97-AF65-F5344CB8AC3E}">
        <p14:creationId xmlns:p14="http://schemas.microsoft.com/office/powerpoint/2010/main" val="154771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bg">
            <a:extLst>
              <a:ext uri="{FF2B5EF4-FFF2-40B4-BE49-F238E27FC236}">
                <a16:creationId xmlns:a16="http://schemas.microsoft.com/office/drawing/2014/main" id="{FC31A2D0-07C4-4CEB-9296-EBA4ED007B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0CFF28E-5A27-4485-860E-86816899A18F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汇报提纲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8C651FB-FAD9-4D17-B7BE-4D26513B50DC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3886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围绕问题、模型、系统和实验结果展开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2A37A44B-91E7-4695-9727-67445F4191C9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2344C47-39D3-4E6E-A769-1B6EFAF6597D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A129F17-1D1B-4D63-8A24-18AD766B9D16}"/>
              </a:ext>
            </a:extLst>
          </p:cNvPr>
          <p:cNvSpPr>
            <a:spLocks noGrp="1"/>
          </p:cNvSpPr>
          <p:nvPr/>
        </p:nvSpPr>
        <p:spPr>
          <a:xfrm>
            <a:off x="990600" y="2127885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1667B7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D4B785-3D75-4E24-96E8-28574B87D6B7}"/>
              </a:ext>
            </a:extLst>
          </p:cNvPr>
          <p:cNvSpPr>
            <a:spLocks noGrp="1"/>
          </p:cNvSpPr>
          <p:nvPr/>
        </p:nvSpPr>
        <p:spPr>
          <a:xfrm>
            <a:off x="1162050" y="22098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ED28B0-6A2E-45CB-A1F4-3551B85FBBE1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研究背景与目标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E7617A-FB8A-4375-B9DE-C336E26086D5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智能燃气表多维时序数据异常检测问题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565D62E-86C9-4D22-9E21-BDF598FC4625}"/>
              </a:ext>
            </a:extLst>
          </p:cNvPr>
          <p:cNvSpPr>
            <a:spLocks noGrp="1"/>
          </p:cNvSpPr>
          <p:nvPr/>
        </p:nvSpPr>
        <p:spPr>
          <a:xfrm>
            <a:off x="9286875" y="1861185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F2B468-7B5C-4632-B6B2-BB3DAC7B44A3}"/>
              </a:ext>
            </a:extLst>
          </p:cNvPr>
          <p:cNvSpPr>
            <a:spLocks noGrp="1"/>
          </p:cNvSpPr>
          <p:nvPr/>
        </p:nvSpPr>
        <p:spPr>
          <a:xfrm>
            <a:off x="9553575" y="2127885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0E9488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455A07-1877-4869-8213-16EDFC748563}"/>
              </a:ext>
            </a:extLst>
          </p:cNvPr>
          <p:cNvSpPr>
            <a:spLocks noGrp="1"/>
          </p:cNvSpPr>
          <p:nvPr/>
        </p:nvSpPr>
        <p:spPr>
          <a:xfrm>
            <a:off x="9734550" y="22098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910F34-CA4F-4397-AF11-AA3D58115EC2}"/>
              </a:ext>
            </a:extLst>
          </p:cNvPr>
          <p:cNvSpPr>
            <a:spLocks noGrp="1"/>
          </p:cNvSpPr>
          <p:nvPr/>
        </p:nvSpPr>
        <p:spPr>
          <a:xfrm>
            <a:off x="9563100" y="25717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系统总体设计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ABAEC9-3B51-4CD1-ACB4-EA7E049D7DAE}"/>
              </a:ext>
            </a:extLst>
          </p:cNvPr>
          <p:cNvSpPr>
            <a:spLocks noGrp="1"/>
          </p:cNvSpPr>
          <p:nvPr/>
        </p:nvSpPr>
        <p:spPr>
          <a:xfrm>
            <a:off x="9563100" y="30099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设备接入、模型推理、告警工单闭环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F28BC86-80F7-4687-858D-E285A0C985E3}"/>
              </a:ext>
            </a:extLst>
          </p:cNvPr>
          <p:cNvSpPr>
            <a:spLocks noGrp="1"/>
          </p:cNvSpPr>
          <p:nvPr/>
        </p:nvSpPr>
        <p:spPr>
          <a:xfrm>
            <a:off x="723900" y="4568190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0EDAFF-7FA0-4639-B46A-0FA85A9236F5}"/>
              </a:ext>
            </a:extLst>
          </p:cNvPr>
          <p:cNvSpPr>
            <a:spLocks noGrp="1"/>
          </p:cNvSpPr>
          <p:nvPr/>
        </p:nvSpPr>
        <p:spPr>
          <a:xfrm>
            <a:off x="990600" y="4834890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E99B24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AEA90D-0E34-4C3A-9DBE-11767E15C954}"/>
              </a:ext>
            </a:extLst>
          </p:cNvPr>
          <p:cNvSpPr>
            <a:spLocks noGrp="1"/>
          </p:cNvSpPr>
          <p:nvPr/>
        </p:nvSpPr>
        <p:spPr>
          <a:xfrm>
            <a:off x="1162050" y="49149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2682F3-7D78-4B45-8C89-ED2EAC20E26E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LSTM AutoEncoder 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F41A16-531A-4AEE-8BF2-6EA5A1397507}"/>
              </a:ext>
            </a:extLst>
          </p:cNvPr>
          <p:cNvSpPr>
            <a:spLocks noGrp="1"/>
          </p:cNvSpPr>
          <p:nvPr/>
        </p:nvSpPr>
        <p:spPr>
          <a:xfrm>
            <a:off x="990600" y="57150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滑动窗口、重构误差、阈值判定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2A5B51-A5AD-43C0-97B4-634D5560CD46}"/>
              </a:ext>
            </a:extLst>
          </p:cNvPr>
          <p:cNvSpPr>
            <a:spLocks noGrp="1"/>
          </p:cNvSpPr>
          <p:nvPr/>
        </p:nvSpPr>
        <p:spPr>
          <a:xfrm>
            <a:off x="9286875" y="4568190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2F38BFC-4556-482C-B9C6-8974F9B1B3B8}"/>
              </a:ext>
            </a:extLst>
          </p:cNvPr>
          <p:cNvSpPr>
            <a:spLocks noGrp="1"/>
          </p:cNvSpPr>
          <p:nvPr/>
        </p:nvSpPr>
        <p:spPr>
          <a:xfrm>
            <a:off x="9553575" y="4834890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2B9C61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53990A-0F34-411A-B628-4ECE8CEFCDEE}"/>
              </a:ext>
            </a:extLst>
          </p:cNvPr>
          <p:cNvSpPr>
            <a:spLocks noGrp="1"/>
          </p:cNvSpPr>
          <p:nvPr/>
        </p:nvSpPr>
        <p:spPr>
          <a:xfrm>
            <a:off x="9734550" y="49149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93C2B1-9E37-465A-855E-3244EEE2BB18}"/>
              </a:ext>
            </a:extLst>
          </p:cNvPr>
          <p:cNvSpPr>
            <a:spLocks noGrp="1"/>
          </p:cNvSpPr>
          <p:nvPr/>
        </p:nvSpPr>
        <p:spPr>
          <a:xfrm>
            <a:off x="9563100" y="52768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系统实现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74CBF0-EF01-4036-8CD5-95CE9DDECF21}"/>
              </a:ext>
            </a:extLst>
          </p:cNvPr>
          <p:cNvSpPr>
            <a:spLocks noGrp="1"/>
          </p:cNvSpPr>
          <p:nvPr/>
        </p:nvSpPr>
        <p:spPr>
          <a:xfrm>
            <a:off x="9563100" y="57150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Flask + MySQL + PyTorch + Vue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510BBD7-1896-4351-BA46-CA07E0E29CD3}"/>
              </a:ext>
            </a:extLst>
          </p:cNvPr>
          <p:cNvSpPr>
            <a:spLocks noGrp="1"/>
          </p:cNvSpPr>
          <p:nvPr/>
        </p:nvSpPr>
        <p:spPr>
          <a:xfrm>
            <a:off x="723900" y="7275195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EE250DE-F908-458B-8271-880592780CE1}"/>
              </a:ext>
            </a:extLst>
          </p:cNvPr>
          <p:cNvSpPr>
            <a:spLocks noGrp="1"/>
          </p:cNvSpPr>
          <p:nvPr/>
        </p:nvSpPr>
        <p:spPr>
          <a:xfrm>
            <a:off x="990600" y="7541895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D94C4C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D970B27-A702-48E8-9FD3-4D702E48DF1F}"/>
              </a:ext>
            </a:extLst>
          </p:cNvPr>
          <p:cNvSpPr>
            <a:spLocks noGrp="1"/>
          </p:cNvSpPr>
          <p:nvPr/>
        </p:nvSpPr>
        <p:spPr>
          <a:xfrm>
            <a:off x="1162050" y="76200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56D602-3E6A-4EE0-96CE-225C300651F3}"/>
              </a:ext>
            </a:extLst>
          </p:cNvPr>
          <p:cNvSpPr>
            <a:spLocks noGrp="1"/>
          </p:cNvSpPr>
          <p:nvPr/>
        </p:nvSpPr>
        <p:spPr>
          <a:xfrm>
            <a:off x="990600" y="79819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实验测试与结果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C4D456-20BE-451F-ACB9-2974A03E55CD}"/>
              </a:ext>
            </a:extLst>
          </p:cNvPr>
          <p:cNvSpPr>
            <a:spLocks noGrp="1"/>
          </p:cNvSpPr>
          <p:nvPr/>
        </p:nvSpPr>
        <p:spPr>
          <a:xfrm>
            <a:off x="990600" y="84201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模型对比、阈值实验、实时性测试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C616059-85B8-4E00-82D0-ACDDF3393373}"/>
              </a:ext>
            </a:extLst>
          </p:cNvPr>
          <p:cNvSpPr>
            <a:spLocks noGrp="1"/>
          </p:cNvSpPr>
          <p:nvPr/>
        </p:nvSpPr>
        <p:spPr>
          <a:xfrm>
            <a:off x="9286875" y="7275195"/>
            <a:ext cx="8277225" cy="2478405"/>
          </a:xfrm>
          <a:prstGeom prst="roundRect">
            <a:avLst>
              <a:gd name="adj" fmla="val 1537"/>
            </a:avLst>
          </a:prstGeom>
          <a:solidFill>
            <a:srgbClr val="FFFFFF"/>
          </a:solidFill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34C0BE6-FB03-4E6A-BF4E-1598E6629A95}"/>
              </a:ext>
            </a:extLst>
          </p:cNvPr>
          <p:cNvSpPr>
            <a:spLocks noGrp="1"/>
          </p:cNvSpPr>
          <p:nvPr/>
        </p:nvSpPr>
        <p:spPr>
          <a:xfrm>
            <a:off x="9553575" y="7541895"/>
            <a:ext cx="507016" cy="346710"/>
          </a:xfrm>
          <a:prstGeom prst="roundRect">
            <a:avLst>
              <a:gd name="adj" fmla="val 50000"/>
            </a:avLst>
          </a:prstGeom>
          <a:solidFill>
            <a:srgbClr val="0A2642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DD4D2D9-C03A-4692-81BD-C3B7F67B9211}"/>
              </a:ext>
            </a:extLst>
          </p:cNvPr>
          <p:cNvSpPr>
            <a:spLocks noGrp="1"/>
          </p:cNvSpPr>
          <p:nvPr/>
        </p:nvSpPr>
        <p:spPr>
          <a:xfrm>
            <a:off x="9734550" y="7620000"/>
            <a:ext cx="171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FA57AA-94BA-4111-808A-A642D239F257}"/>
              </a:ext>
            </a:extLst>
          </p:cNvPr>
          <p:cNvSpPr>
            <a:spLocks noGrp="1"/>
          </p:cNvSpPr>
          <p:nvPr/>
        </p:nvSpPr>
        <p:spPr>
          <a:xfrm>
            <a:off x="9563100" y="7981950"/>
            <a:ext cx="7753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总结与展望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1733DC-0D5E-4C15-A8CD-F40F0E0D9D84}"/>
              </a:ext>
            </a:extLst>
          </p:cNvPr>
          <p:cNvSpPr>
            <a:spLocks noGrp="1"/>
          </p:cNvSpPr>
          <p:nvPr/>
        </p:nvSpPr>
        <p:spPr>
          <a:xfrm>
            <a:off x="9563100" y="84201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研究成果、不足和后续优化方向</a:t>
            </a:r>
          </a:p>
        </p:txBody>
      </p:sp>
    </p:spTree>
    <p:extLst>
      <p:ext uri="{BB962C8B-B14F-4D97-AF65-F5344CB8AC3E}">
        <p14:creationId xmlns:p14="http://schemas.microsoft.com/office/powerpoint/2010/main" val="177308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bg">
            <a:extLst>
              <a:ext uri="{FF2B5EF4-FFF2-40B4-BE49-F238E27FC236}">
                <a16:creationId xmlns:a16="http://schemas.microsoft.com/office/drawing/2014/main" id="{CE15EA1F-63E7-4AEF-80CD-752FF7526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D9C5696-F7C2-4FD2-9E5E-2DA7AA78B6B6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研究背景：燃气表数据从读数走向状态感知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BDE1B34-263F-4692-A9D4-F9A809D0CC74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640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传统阈值方法难以处理多维、非线性、带噪声的物联网时序数据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96385A3-72F7-4464-A30C-43F1C2C4C7F9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DE3BF8-C0DC-4B4D-B392-59713ED0CC4B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7810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667B7"/>
                </a:solidFill>
              </a:defRPr>
            </a:pPr>
            <a:r>
              <a:rPr sz="2400" b="1">
                <a:solidFill>
                  <a:srgbClr val="1667B7"/>
                </a:solidFill>
              </a:rPr>
              <a:t>核心矛盾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3601B9-C07B-4880-964F-43CA9B7E801F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7810500" cy="1181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智能燃气表持续产生海量运行数据，但传统人工巡检和固定阈值只能处理单点越界，难以识别复杂时序关联异常。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C407FE78-AC43-43CC-81A8-78E17C51DF28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7810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固定阈值无法适应季节、区域和用户习惯变化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151E1EAA-6531-41A6-9ED4-6F920BDB47AB}"/>
              </a:ext>
            </a:extLst>
          </p:cNvPr>
          <p:cNvSpPr>
            <a:spLocks noGrp="1"/>
          </p:cNvSpPr>
          <p:nvPr/>
        </p:nvSpPr>
        <p:spPr>
          <a:xfrm>
            <a:off x="723900" y="6648450"/>
            <a:ext cx="7810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单点规则难以捕捉流量、电压、信号、压力之间的关联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A82E5396-A723-443B-BC01-BA129C0B2C95}"/>
              </a:ext>
            </a:extLst>
          </p:cNvPr>
          <p:cNvSpPr>
            <a:spLocks noGrp="1"/>
          </p:cNvSpPr>
          <p:nvPr/>
        </p:nvSpPr>
        <p:spPr>
          <a:xfrm>
            <a:off x="723900" y="7048500"/>
            <a:ext cx="7810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误报会增加运维压力，漏报会带来安全风险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BC36C53-8E18-46FE-9323-7ECA886A4955}"/>
              </a:ext>
            </a:extLst>
          </p:cNvPr>
          <p:cNvSpPr>
            <a:spLocks noGrp="1"/>
          </p:cNvSpPr>
          <p:nvPr/>
        </p:nvSpPr>
        <p:spPr>
          <a:xfrm>
            <a:off x="8933021" y="1861185"/>
            <a:ext cx="8631079" cy="7892415"/>
          </a:xfrm>
          <a:prstGeom prst="roundRect">
            <a:avLst>
              <a:gd name="adj" fmla="val 483"/>
            </a:avLst>
          </a:prstGeom>
          <a:solidFill>
            <a:srgbClr val="FFFF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6A6FA1-C2F4-4F42-B9CD-38E7053ACFD0}"/>
              </a:ext>
            </a:extLst>
          </p:cNvPr>
          <p:cNvSpPr>
            <a:spLocks noGrp="1"/>
          </p:cNvSpPr>
          <p:nvPr/>
        </p:nvSpPr>
        <p:spPr>
          <a:xfrm>
            <a:off x="9258300" y="3543300"/>
            <a:ext cx="79629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D94C4C"/>
                </a:solidFill>
              </a:defRPr>
            </a:pPr>
            <a:r>
              <a:rPr sz="4200" b="1">
                <a:solidFill>
                  <a:srgbClr val="D94C4C"/>
                </a:solidFill>
              </a:rPr>
              <a:t>人工 + 阈值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351BEF-34C7-4B08-95F0-69404682D834}"/>
              </a:ext>
            </a:extLst>
          </p:cNvPr>
          <p:cNvSpPr>
            <a:spLocks noGrp="1"/>
          </p:cNvSpPr>
          <p:nvPr/>
        </p:nvSpPr>
        <p:spPr>
          <a:xfrm>
            <a:off x="9258300" y="4267200"/>
            <a:ext cx="7962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传统模式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17008E-7CD3-4327-A7D0-D6DD4C3AD31E}"/>
              </a:ext>
            </a:extLst>
          </p:cNvPr>
          <p:cNvSpPr>
            <a:spLocks noGrp="1"/>
          </p:cNvSpPr>
          <p:nvPr/>
        </p:nvSpPr>
        <p:spPr>
          <a:xfrm>
            <a:off x="9258300" y="4572000"/>
            <a:ext cx="7962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经验规则主导，被动触发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FC3B0E-E8BB-460B-8DCF-27119C08E42D}"/>
              </a:ext>
            </a:extLst>
          </p:cNvPr>
          <p:cNvSpPr>
            <a:spLocks noGrp="1"/>
          </p:cNvSpPr>
          <p:nvPr/>
        </p:nvSpPr>
        <p:spPr>
          <a:xfrm>
            <a:off x="9277350" y="4972050"/>
            <a:ext cx="7943850" cy="19050"/>
          </a:xfrm>
          <a:prstGeom prst="rect">
            <a:avLst/>
          </a:prstGeom>
          <a:solidFill>
            <a:srgbClr val="E5EBF3"/>
          </a:solidFill>
          <a:ln w="0">
            <a:solidFill>
              <a:srgbClr val="E5EBF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700F49-BD21-4BB3-B35F-FCC0D374C4B0}"/>
              </a:ext>
            </a:extLst>
          </p:cNvPr>
          <p:cNvSpPr>
            <a:spLocks noGrp="1"/>
          </p:cNvSpPr>
          <p:nvPr/>
        </p:nvSpPr>
        <p:spPr>
          <a:xfrm>
            <a:off x="9258300" y="5219700"/>
            <a:ext cx="79629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667B7"/>
                </a:solidFill>
              </a:defRPr>
            </a:pPr>
            <a:r>
              <a:rPr sz="4200" b="1">
                <a:solidFill>
                  <a:srgbClr val="1667B7"/>
                </a:solidFill>
              </a:rPr>
              <a:t>深度学习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E75A85-28C2-4923-AC79-B291AE91DC45}"/>
              </a:ext>
            </a:extLst>
          </p:cNvPr>
          <p:cNvSpPr>
            <a:spLocks noGrp="1"/>
          </p:cNvSpPr>
          <p:nvPr/>
        </p:nvSpPr>
        <p:spPr>
          <a:xfrm>
            <a:off x="9258300" y="5924550"/>
            <a:ext cx="7962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本文方案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48FA85-19AB-4D3E-A5DC-7C4D347BC355}"/>
              </a:ext>
            </a:extLst>
          </p:cNvPr>
          <p:cNvSpPr>
            <a:spLocks noGrp="1"/>
          </p:cNvSpPr>
          <p:nvPr/>
        </p:nvSpPr>
        <p:spPr>
          <a:xfrm>
            <a:off x="9258300" y="6229350"/>
            <a:ext cx="7962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主动学习正常时序模式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7A35D6-0B60-42CF-8AE7-72EDC020FB79}"/>
              </a:ext>
            </a:extLst>
          </p:cNvPr>
          <p:cNvSpPr>
            <a:spLocks noGrp="1"/>
          </p:cNvSpPr>
          <p:nvPr/>
        </p:nvSpPr>
        <p:spPr>
          <a:xfrm>
            <a:off x="9277350" y="6629400"/>
            <a:ext cx="7943850" cy="19050"/>
          </a:xfrm>
          <a:prstGeom prst="rect">
            <a:avLst/>
          </a:prstGeom>
          <a:solidFill>
            <a:srgbClr val="E5EBF3"/>
          </a:solidFill>
          <a:ln w="0">
            <a:solidFill>
              <a:srgbClr val="E5EBF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C625CD-1960-4575-94F1-26A0D3DCADCE}"/>
              </a:ext>
            </a:extLst>
          </p:cNvPr>
          <p:cNvSpPr>
            <a:spLocks noGrp="1"/>
          </p:cNvSpPr>
          <p:nvPr/>
        </p:nvSpPr>
        <p:spPr>
          <a:xfrm>
            <a:off x="9258300" y="6877050"/>
            <a:ext cx="79629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E9488"/>
                </a:solidFill>
              </a:defRPr>
            </a:pPr>
            <a:r>
              <a:rPr sz="4200" b="1">
                <a:solidFill>
                  <a:srgbClr val="0E9488"/>
                </a:solidFill>
              </a:rPr>
              <a:t>告警 + 工单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A7F404-D431-4832-82D2-651C37DA077C}"/>
              </a:ext>
            </a:extLst>
          </p:cNvPr>
          <p:cNvSpPr>
            <a:spLocks noGrp="1"/>
          </p:cNvSpPr>
          <p:nvPr/>
        </p:nvSpPr>
        <p:spPr>
          <a:xfrm>
            <a:off x="9258300" y="7600950"/>
            <a:ext cx="7962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业务落点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4C3C81-0154-4F0A-A1CC-4C8572563C47}"/>
              </a:ext>
            </a:extLst>
          </p:cNvPr>
          <p:cNvSpPr>
            <a:spLocks noGrp="1"/>
          </p:cNvSpPr>
          <p:nvPr/>
        </p:nvSpPr>
        <p:spPr>
          <a:xfrm>
            <a:off x="9258300" y="7905750"/>
            <a:ext cx="7962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从识别结果转为可处理任务</a:t>
            </a:r>
          </a:p>
        </p:txBody>
      </p:sp>
    </p:spTree>
    <p:extLst>
      <p:ext uri="{BB962C8B-B14F-4D97-AF65-F5344CB8AC3E}">
        <p14:creationId xmlns:p14="http://schemas.microsoft.com/office/powerpoint/2010/main" val="167181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bg">
            <a:extLst>
              <a:ext uri="{FF2B5EF4-FFF2-40B4-BE49-F238E27FC236}">
                <a16:creationId xmlns:a16="http://schemas.microsoft.com/office/drawing/2014/main" id="{2E91AB8F-1B1B-4097-9F30-EE659660D4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E35A86-EB8E-4DB2-AB96-5BCD3B51B968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研究目标与技术路线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705553A-9797-4D13-BD6F-E749B6A0F4ED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754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把燃气表原始上报数据转化为可解释、可处理、可持续优化的异常检测结果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927B9B6-D196-4015-B4C9-3A949CF9C7D1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7DE1912-6531-4C4E-A432-D845EC0EADFC}"/>
              </a:ext>
            </a:extLst>
          </p:cNvPr>
          <p:cNvSpPr>
            <a:spLocks noGrp="1"/>
          </p:cNvSpPr>
          <p:nvPr/>
        </p:nvSpPr>
        <p:spPr>
          <a:xfrm>
            <a:off x="160020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667B7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5B06F9-3087-4834-89F5-5589FE8C5B81}"/>
              </a:ext>
            </a:extLst>
          </p:cNvPr>
          <p:cNvSpPr>
            <a:spLocks noGrp="1"/>
          </p:cNvSpPr>
          <p:nvPr/>
        </p:nvSpPr>
        <p:spPr>
          <a:xfrm>
            <a:off x="160020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D6D962-CE1A-4501-B6A9-2DB0E501051A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设备数据接入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BECB1AE-71FC-4FD1-AA09-88566E912163}"/>
              </a:ext>
            </a:extLst>
          </p:cNvPr>
          <p:cNvSpPr>
            <a:spLocks noGrp="1"/>
          </p:cNvSpPr>
          <p:nvPr/>
        </p:nvSpPr>
        <p:spPr>
          <a:xfrm>
            <a:off x="409575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9488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57F8E-C5AA-44D8-B352-DD88C173480A}"/>
              </a:ext>
            </a:extLst>
          </p:cNvPr>
          <p:cNvSpPr>
            <a:spLocks noGrp="1"/>
          </p:cNvSpPr>
          <p:nvPr/>
        </p:nvSpPr>
        <p:spPr>
          <a:xfrm>
            <a:off x="409575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38BE32-92D8-44DE-B296-211686F214F4}"/>
              </a:ext>
            </a:extLst>
          </p:cNvPr>
          <p:cNvSpPr>
            <a:spLocks noGrp="1"/>
          </p:cNvSpPr>
          <p:nvPr/>
        </p:nvSpPr>
        <p:spPr>
          <a:xfrm>
            <a:off x="321945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清洗与标准化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FE48FB3-7D67-4499-9BBF-514D629D24CF}"/>
              </a:ext>
            </a:extLst>
          </p:cNvPr>
          <p:cNvSpPr>
            <a:spLocks noGrp="1"/>
          </p:cNvSpPr>
          <p:nvPr/>
        </p:nvSpPr>
        <p:spPr>
          <a:xfrm>
            <a:off x="659130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E99B24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7B819F-7F73-4245-A6DA-68C21536EAD2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513CE-956B-40DB-B286-025DFE5C1731}"/>
              </a:ext>
            </a:extLst>
          </p:cNvPr>
          <p:cNvSpPr>
            <a:spLocks noGrp="1"/>
          </p:cNvSpPr>
          <p:nvPr/>
        </p:nvSpPr>
        <p:spPr>
          <a:xfrm>
            <a:off x="571500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滑动窗口 24×7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C8048A-BA6B-47BD-8CDE-95C3F9B5BE7E}"/>
              </a:ext>
            </a:extLst>
          </p:cNvPr>
          <p:cNvSpPr>
            <a:spLocks noGrp="1"/>
          </p:cNvSpPr>
          <p:nvPr/>
        </p:nvSpPr>
        <p:spPr>
          <a:xfrm>
            <a:off x="908685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667B7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D2E13E-78D2-4D47-8F3E-0D51268EE9EC}"/>
              </a:ext>
            </a:extLst>
          </p:cNvPr>
          <p:cNvSpPr>
            <a:spLocks noGrp="1"/>
          </p:cNvSpPr>
          <p:nvPr/>
        </p:nvSpPr>
        <p:spPr>
          <a:xfrm>
            <a:off x="908685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95660A-F895-4163-BD95-22F206A6AC52}"/>
              </a:ext>
            </a:extLst>
          </p:cNvPr>
          <p:cNvSpPr>
            <a:spLocks noGrp="1"/>
          </p:cNvSpPr>
          <p:nvPr/>
        </p:nvSpPr>
        <p:spPr>
          <a:xfrm>
            <a:off x="821055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LSTM AE 推理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8C4078D-FEC8-47D2-A182-3F9847F65247}"/>
              </a:ext>
            </a:extLst>
          </p:cNvPr>
          <p:cNvSpPr>
            <a:spLocks noGrp="1"/>
          </p:cNvSpPr>
          <p:nvPr/>
        </p:nvSpPr>
        <p:spPr>
          <a:xfrm>
            <a:off x="1158240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D94C4C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785137-C464-4370-8FC3-AB77F6D31124}"/>
              </a:ext>
            </a:extLst>
          </p:cNvPr>
          <p:cNvSpPr>
            <a:spLocks noGrp="1"/>
          </p:cNvSpPr>
          <p:nvPr/>
        </p:nvSpPr>
        <p:spPr>
          <a:xfrm>
            <a:off x="1158240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B180F2-F051-4970-91E4-888F88FDE3E5}"/>
              </a:ext>
            </a:extLst>
          </p:cNvPr>
          <p:cNvSpPr>
            <a:spLocks noGrp="1"/>
          </p:cNvSpPr>
          <p:nvPr/>
        </p:nvSpPr>
        <p:spPr>
          <a:xfrm>
            <a:off x="1070610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异常得分与阈值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143830-23A8-440E-AEA1-24A0B13BCFE1}"/>
              </a:ext>
            </a:extLst>
          </p:cNvPr>
          <p:cNvSpPr>
            <a:spLocks noGrp="1"/>
          </p:cNvSpPr>
          <p:nvPr/>
        </p:nvSpPr>
        <p:spPr>
          <a:xfrm>
            <a:off x="14077950" y="3549968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2B9C61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C99A6F-24F0-4BFD-A067-57E96360F865}"/>
              </a:ext>
            </a:extLst>
          </p:cNvPr>
          <p:cNvSpPr>
            <a:spLocks noGrp="1"/>
          </p:cNvSpPr>
          <p:nvPr/>
        </p:nvSpPr>
        <p:spPr>
          <a:xfrm>
            <a:off x="14077950" y="369570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7FD1FA-EE06-43EE-B752-C70A9CD2AF64}"/>
              </a:ext>
            </a:extLst>
          </p:cNvPr>
          <p:cNvSpPr>
            <a:spLocks noGrp="1"/>
          </p:cNvSpPr>
          <p:nvPr/>
        </p:nvSpPr>
        <p:spPr>
          <a:xfrm>
            <a:off x="13201650" y="417195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告警工单闭环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3D9F9ED-CAF6-4301-AC15-DAC32733A0FE}"/>
              </a:ext>
            </a:extLst>
          </p:cNvPr>
          <p:cNvSpPr>
            <a:spLocks noGrp="1"/>
          </p:cNvSpPr>
          <p:nvPr/>
        </p:nvSpPr>
        <p:spPr>
          <a:xfrm>
            <a:off x="723900" y="5397818"/>
            <a:ext cx="5461000" cy="2667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4A8D28-1503-46D6-B6CB-86CDB59DF15F}"/>
              </a:ext>
            </a:extLst>
          </p:cNvPr>
          <p:cNvSpPr>
            <a:spLocks noGrp="1"/>
          </p:cNvSpPr>
          <p:nvPr/>
        </p:nvSpPr>
        <p:spPr>
          <a:xfrm>
            <a:off x="990600" y="6210300"/>
            <a:ext cx="4933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667B7"/>
                </a:solidFill>
              </a:defRPr>
            </a:pPr>
            <a:r>
              <a:rPr sz="2250" b="1">
                <a:solidFill>
                  <a:srgbClr val="1667B7"/>
                </a:solidFill>
              </a:rPr>
              <a:t>模型目标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85B8AB-17DE-49E5-B2DF-37A08A3BB806}"/>
              </a:ext>
            </a:extLst>
          </p:cNvPr>
          <p:cNvSpPr>
            <a:spLocks noGrp="1"/>
          </p:cNvSpPr>
          <p:nvPr/>
        </p:nvSpPr>
        <p:spPr>
          <a:xfrm>
            <a:off x="990600" y="6667500"/>
            <a:ext cx="4933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学习正常燃气表运行规律，利用重构误差发现偏离正常模式的数据窗口。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1CFB23B-2241-4284-97F8-D1B35E91AF49}"/>
              </a:ext>
            </a:extLst>
          </p:cNvPr>
          <p:cNvSpPr>
            <a:spLocks noGrp="1"/>
          </p:cNvSpPr>
          <p:nvPr/>
        </p:nvSpPr>
        <p:spPr>
          <a:xfrm>
            <a:off x="6413500" y="5397818"/>
            <a:ext cx="5461000" cy="2667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A6C652-17C6-44AD-A4B3-F32868F28987}"/>
              </a:ext>
            </a:extLst>
          </p:cNvPr>
          <p:cNvSpPr>
            <a:spLocks noGrp="1"/>
          </p:cNvSpPr>
          <p:nvPr/>
        </p:nvSpPr>
        <p:spPr>
          <a:xfrm>
            <a:off x="6686550" y="6210300"/>
            <a:ext cx="4933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E9488"/>
                </a:solidFill>
              </a:defRPr>
            </a:pPr>
            <a:r>
              <a:rPr sz="2250" b="1">
                <a:solidFill>
                  <a:srgbClr val="0E9488"/>
                </a:solidFill>
              </a:rPr>
              <a:t>系统目标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61A06A-8EB4-4C02-8A42-BA8C964EE9C4}"/>
              </a:ext>
            </a:extLst>
          </p:cNvPr>
          <p:cNvSpPr>
            <a:spLocks noGrp="1"/>
          </p:cNvSpPr>
          <p:nvPr/>
        </p:nvSpPr>
        <p:spPr>
          <a:xfrm>
            <a:off x="6686550" y="6667500"/>
            <a:ext cx="4933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实现设备接入、实时推理、告警展示、工单处理和模型版本管理。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A39D0DF-9997-41E4-97DE-15241BEC670C}"/>
              </a:ext>
            </a:extLst>
          </p:cNvPr>
          <p:cNvSpPr>
            <a:spLocks noGrp="1"/>
          </p:cNvSpPr>
          <p:nvPr/>
        </p:nvSpPr>
        <p:spPr>
          <a:xfrm>
            <a:off x="12103100" y="5397818"/>
            <a:ext cx="5461000" cy="2667000"/>
          </a:xfrm>
          <a:prstGeom prst="roundRect">
            <a:avLst>
              <a:gd name="adj" fmla="val 1429"/>
            </a:avLst>
          </a:prstGeom>
          <a:solidFill>
            <a:srgbClr val="FFFFFF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2356E1-11C6-4D93-8CCB-D31A59C8E098}"/>
              </a:ext>
            </a:extLst>
          </p:cNvPr>
          <p:cNvSpPr>
            <a:spLocks noGrp="1"/>
          </p:cNvSpPr>
          <p:nvPr/>
        </p:nvSpPr>
        <p:spPr>
          <a:xfrm>
            <a:off x="12363450" y="6210300"/>
            <a:ext cx="4933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E99B24"/>
                </a:solidFill>
              </a:defRPr>
            </a:pPr>
            <a:r>
              <a:rPr sz="2250" b="1">
                <a:solidFill>
                  <a:srgbClr val="E99B24"/>
                </a:solidFill>
              </a:rPr>
              <a:t>工程目标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AEEF6F-5BD6-4925-B32E-0CFCD78CFD19}"/>
              </a:ext>
            </a:extLst>
          </p:cNvPr>
          <p:cNvSpPr>
            <a:spLocks noGrp="1"/>
          </p:cNvSpPr>
          <p:nvPr/>
        </p:nvSpPr>
        <p:spPr>
          <a:xfrm>
            <a:off x="12363450" y="6667500"/>
            <a:ext cx="4933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通过持续训练机制适应数据分布变化，支撑长期稳定运行。</a:t>
            </a:r>
          </a:p>
        </p:txBody>
      </p:sp>
    </p:spTree>
    <p:extLst>
      <p:ext uri="{BB962C8B-B14F-4D97-AF65-F5344CB8AC3E}">
        <p14:creationId xmlns:p14="http://schemas.microsoft.com/office/powerpoint/2010/main" val="140337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-bg">
            <a:extLst>
              <a:ext uri="{FF2B5EF4-FFF2-40B4-BE49-F238E27FC236}">
                <a16:creationId xmlns:a16="http://schemas.microsoft.com/office/drawing/2014/main" id="{A324EFD7-F80E-409C-924F-D4B25F369A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997E2A6-ABEC-4E0F-BAD0-8A23A0BCC3BF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系统总体架构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9D59EF4-454E-4E3F-B87B-03645D85860B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486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分层架构支撑设备接入、深度学习分析和运维业务闭环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499F9051-924E-40F1-802D-DF5CF861CE45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2BB9C5-A404-4700-9AE7-7568B6DB093C}"/>
              </a:ext>
            </a:extLst>
          </p:cNvPr>
          <p:cNvSpPr>
            <a:spLocks noGrp="1"/>
          </p:cNvSpPr>
          <p:nvPr/>
        </p:nvSpPr>
        <p:spPr>
          <a:xfrm>
            <a:off x="723900" y="3308033"/>
            <a:ext cx="24765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C38980-686C-47FE-ABFF-E9752B9F8032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层次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7DED40-4904-4241-844E-3C03295A5C86}"/>
              </a:ext>
            </a:extLst>
          </p:cNvPr>
          <p:cNvSpPr>
            <a:spLocks noGrp="1"/>
          </p:cNvSpPr>
          <p:nvPr/>
        </p:nvSpPr>
        <p:spPr>
          <a:xfrm>
            <a:off x="3200400" y="3308033"/>
            <a:ext cx="390525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170F93-3DC8-48E4-9D6C-C7B2F5B4EE9A}"/>
              </a:ext>
            </a:extLst>
          </p:cNvPr>
          <p:cNvSpPr>
            <a:spLocks noGrp="1"/>
          </p:cNvSpPr>
          <p:nvPr/>
        </p:nvSpPr>
        <p:spPr>
          <a:xfrm>
            <a:off x="3314700" y="340995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7C5759-34A0-4554-8119-397AC8213EBE}"/>
              </a:ext>
            </a:extLst>
          </p:cNvPr>
          <p:cNvSpPr>
            <a:spLocks noGrp="1"/>
          </p:cNvSpPr>
          <p:nvPr/>
        </p:nvSpPr>
        <p:spPr>
          <a:xfrm>
            <a:off x="7105650" y="3308033"/>
            <a:ext cx="1045845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F9446E-50EF-4154-852E-0318F09A8D8B}"/>
              </a:ext>
            </a:extLst>
          </p:cNvPr>
          <p:cNvSpPr>
            <a:spLocks noGrp="1"/>
          </p:cNvSpPr>
          <p:nvPr/>
        </p:nvSpPr>
        <p:spPr>
          <a:xfrm>
            <a:off x="7219950" y="340995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关键内容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C8D589-98CD-4088-B84A-0A49BCFFF2F9}"/>
              </a:ext>
            </a:extLst>
          </p:cNvPr>
          <p:cNvSpPr>
            <a:spLocks noGrp="1"/>
          </p:cNvSpPr>
          <p:nvPr/>
        </p:nvSpPr>
        <p:spPr>
          <a:xfrm>
            <a:off x="723900" y="3784283"/>
            <a:ext cx="247650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7517C-FBBF-47B5-A716-77AABDA19DD0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感知接入层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3D4210-D099-4687-9D8B-3276311035B7}"/>
              </a:ext>
            </a:extLst>
          </p:cNvPr>
          <p:cNvSpPr>
            <a:spLocks noGrp="1"/>
          </p:cNvSpPr>
          <p:nvPr/>
        </p:nvSpPr>
        <p:spPr>
          <a:xfrm>
            <a:off x="3200400" y="3784283"/>
            <a:ext cx="39052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654DAC-3D55-4097-98C6-42019EBE71C8}"/>
              </a:ext>
            </a:extLst>
          </p:cNvPr>
          <p:cNvSpPr>
            <a:spLocks noGrp="1"/>
          </p:cNvSpPr>
          <p:nvPr/>
        </p:nvSpPr>
        <p:spPr>
          <a:xfrm>
            <a:off x="3314700" y="386715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采集燃气表运行数据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70D543-9591-4284-ADB0-C08C06A11761}"/>
              </a:ext>
            </a:extLst>
          </p:cNvPr>
          <p:cNvSpPr>
            <a:spLocks noGrp="1"/>
          </p:cNvSpPr>
          <p:nvPr/>
        </p:nvSpPr>
        <p:spPr>
          <a:xfrm>
            <a:off x="7105650" y="3784283"/>
            <a:ext cx="104584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A922D9-FB07-4412-BC07-6DA60B807AEC}"/>
              </a:ext>
            </a:extLst>
          </p:cNvPr>
          <p:cNvSpPr>
            <a:spLocks noGrp="1"/>
          </p:cNvSpPr>
          <p:nvPr/>
        </p:nvSpPr>
        <p:spPr>
          <a:xfrm>
            <a:off x="7219950" y="386715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真实智能燃气表 / 虚拟模拟设备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5BCC8E-A6C6-4EA5-AC82-8A0503E6EFB6}"/>
              </a:ext>
            </a:extLst>
          </p:cNvPr>
          <p:cNvSpPr>
            <a:spLocks noGrp="1"/>
          </p:cNvSpPr>
          <p:nvPr/>
        </p:nvSpPr>
        <p:spPr>
          <a:xfrm>
            <a:off x="723900" y="4527233"/>
            <a:ext cx="247650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AF4105-9C8A-40FE-8FE9-F3BAB1132A48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数据传输层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BB0F27-C861-4CF9-97BF-1AE27E78B6CD}"/>
              </a:ext>
            </a:extLst>
          </p:cNvPr>
          <p:cNvSpPr>
            <a:spLocks noGrp="1"/>
          </p:cNvSpPr>
          <p:nvPr/>
        </p:nvSpPr>
        <p:spPr>
          <a:xfrm>
            <a:off x="3200400" y="4527233"/>
            <a:ext cx="390525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CE1F25-F988-4BC0-9A87-EFF66D0BDB86}"/>
              </a:ext>
            </a:extLst>
          </p:cNvPr>
          <p:cNvSpPr>
            <a:spLocks noGrp="1"/>
          </p:cNvSpPr>
          <p:nvPr/>
        </p:nvSpPr>
        <p:spPr>
          <a:xfrm>
            <a:off x="3314700" y="461010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设备数据上传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A2C237-5A98-434E-A21C-A304ECD07411}"/>
              </a:ext>
            </a:extLst>
          </p:cNvPr>
          <p:cNvSpPr>
            <a:spLocks noGrp="1"/>
          </p:cNvSpPr>
          <p:nvPr/>
        </p:nvSpPr>
        <p:spPr>
          <a:xfrm>
            <a:off x="7105650" y="4527233"/>
            <a:ext cx="1045845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E4EC9D-BB3F-49ED-8AEE-4DE5B3FEEA16}"/>
              </a:ext>
            </a:extLst>
          </p:cNvPr>
          <p:cNvSpPr>
            <a:spLocks noGrp="1"/>
          </p:cNvSpPr>
          <p:nvPr/>
        </p:nvSpPr>
        <p:spPr>
          <a:xfrm>
            <a:off x="7219950" y="461010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HTTP / MQTT，设备密钥校验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DCB113-EC46-41A0-A1C3-2A946BF22C34}"/>
              </a:ext>
            </a:extLst>
          </p:cNvPr>
          <p:cNvSpPr>
            <a:spLocks noGrp="1"/>
          </p:cNvSpPr>
          <p:nvPr/>
        </p:nvSpPr>
        <p:spPr>
          <a:xfrm>
            <a:off x="723900" y="5270183"/>
            <a:ext cx="247650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EF2F13-5344-4D3E-8212-D4415826EC4D}"/>
              </a:ext>
            </a:extLst>
          </p:cNvPr>
          <p:cNvSpPr>
            <a:spLocks noGrp="1"/>
          </p:cNvSpPr>
          <p:nvPr/>
        </p:nvSpPr>
        <p:spPr>
          <a:xfrm>
            <a:off x="838200" y="535305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计算分析层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1158EB-B34E-4225-BCEE-22B13EC1548F}"/>
              </a:ext>
            </a:extLst>
          </p:cNvPr>
          <p:cNvSpPr>
            <a:spLocks noGrp="1"/>
          </p:cNvSpPr>
          <p:nvPr/>
        </p:nvSpPr>
        <p:spPr>
          <a:xfrm>
            <a:off x="3200400" y="5270183"/>
            <a:ext cx="39052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12B317-06B6-4B07-BEDB-3DE615835AC8}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深度学习异常检测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F15BA7-AC5F-4C08-9AB6-7E22CE3906DA}"/>
              </a:ext>
            </a:extLst>
          </p:cNvPr>
          <p:cNvSpPr>
            <a:spLocks noGrp="1"/>
          </p:cNvSpPr>
          <p:nvPr/>
        </p:nvSpPr>
        <p:spPr>
          <a:xfrm>
            <a:off x="7105650" y="5270183"/>
            <a:ext cx="104584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F89C25-906F-4AC9-B0D6-30B965A278B6}"/>
              </a:ext>
            </a:extLst>
          </p:cNvPr>
          <p:cNvSpPr>
            <a:spLocks noGrp="1"/>
          </p:cNvSpPr>
          <p:nvPr/>
        </p:nvSpPr>
        <p:spPr>
          <a:xfrm>
            <a:off x="7219950" y="535305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清洗、标准化、滑动窗口、LSTM AE 推理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19D8D2-4508-4C66-B89A-8EE9DEC561AA}"/>
              </a:ext>
            </a:extLst>
          </p:cNvPr>
          <p:cNvSpPr>
            <a:spLocks noGrp="1"/>
          </p:cNvSpPr>
          <p:nvPr/>
        </p:nvSpPr>
        <p:spPr>
          <a:xfrm>
            <a:off x="723900" y="6013133"/>
            <a:ext cx="247650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8F9EC8-5348-4706-B51B-38B317639F09}"/>
              </a:ext>
            </a:extLst>
          </p:cNvPr>
          <p:cNvSpPr>
            <a:spLocks noGrp="1"/>
          </p:cNvSpPr>
          <p:nvPr/>
        </p:nvSpPr>
        <p:spPr>
          <a:xfrm>
            <a:off x="838200" y="609600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业务逻辑层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7C5D9A-1981-49BD-A375-58117D536DF3}"/>
              </a:ext>
            </a:extLst>
          </p:cNvPr>
          <p:cNvSpPr>
            <a:spLocks noGrp="1"/>
          </p:cNvSpPr>
          <p:nvPr/>
        </p:nvSpPr>
        <p:spPr>
          <a:xfrm>
            <a:off x="3200400" y="6013133"/>
            <a:ext cx="390525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E6820C-C004-46FE-86F3-290E603D02FF}"/>
              </a:ext>
            </a:extLst>
          </p:cNvPr>
          <p:cNvSpPr>
            <a:spLocks noGrp="1"/>
          </p:cNvSpPr>
          <p:nvPr/>
        </p:nvSpPr>
        <p:spPr>
          <a:xfrm>
            <a:off x="3314700" y="609600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异常处理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AD4D611-5DED-4F24-B80C-5BCFEE1B09C9}"/>
              </a:ext>
            </a:extLst>
          </p:cNvPr>
          <p:cNvSpPr>
            <a:spLocks noGrp="1"/>
          </p:cNvSpPr>
          <p:nvPr/>
        </p:nvSpPr>
        <p:spPr>
          <a:xfrm>
            <a:off x="7105650" y="6013133"/>
            <a:ext cx="10458450" cy="7239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1FB739A-3A23-4BEA-B88F-21E12FAE674B}"/>
              </a:ext>
            </a:extLst>
          </p:cNvPr>
          <p:cNvSpPr>
            <a:spLocks noGrp="1"/>
          </p:cNvSpPr>
          <p:nvPr/>
        </p:nvSpPr>
        <p:spPr>
          <a:xfrm>
            <a:off x="7219950" y="609600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告警生成、工单派发、模型版本管理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9133F4-51BD-49CE-8F10-A66A4B54D8C6}"/>
              </a:ext>
            </a:extLst>
          </p:cNvPr>
          <p:cNvSpPr>
            <a:spLocks noGrp="1"/>
          </p:cNvSpPr>
          <p:nvPr/>
        </p:nvSpPr>
        <p:spPr>
          <a:xfrm>
            <a:off x="723900" y="6756083"/>
            <a:ext cx="247650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D978EE-76B8-4F90-9D9F-0C8672CECBB0}"/>
              </a:ext>
            </a:extLst>
          </p:cNvPr>
          <p:cNvSpPr>
            <a:spLocks noGrp="1"/>
          </p:cNvSpPr>
          <p:nvPr/>
        </p:nvSpPr>
        <p:spPr>
          <a:xfrm>
            <a:off x="838200" y="683895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展示层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0F810F-2C86-4827-815E-B640F4CBE1E4}"/>
              </a:ext>
            </a:extLst>
          </p:cNvPr>
          <p:cNvSpPr>
            <a:spLocks noGrp="1"/>
          </p:cNvSpPr>
          <p:nvPr/>
        </p:nvSpPr>
        <p:spPr>
          <a:xfrm>
            <a:off x="3200400" y="6756083"/>
            <a:ext cx="39052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CBE9402-209B-4C54-BB0F-34753380B626}"/>
              </a:ext>
            </a:extLst>
          </p:cNvPr>
          <p:cNvSpPr>
            <a:spLocks noGrp="1"/>
          </p:cNvSpPr>
          <p:nvPr/>
        </p:nvSpPr>
        <p:spPr>
          <a:xfrm>
            <a:off x="3314700" y="6838950"/>
            <a:ext cx="367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可视化管理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B8DFF5C-D0B0-498C-8271-88543E07F6F8}"/>
              </a:ext>
            </a:extLst>
          </p:cNvPr>
          <p:cNvSpPr>
            <a:spLocks noGrp="1"/>
          </p:cNvSpPr>
          <p:nvPr/>
        </p:nvSpPr>
        <p:spPr>
          <a:xfrm>
            <a:off x="7105650" y="6756083"/>
            <a:ext cx="10458450" cy="7239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8D1E073-5B61-49FA-8FE5-6345351CF99C}"/>
              </a:ext>
            </a:extLst>
          </p:cNvPr>
          <p:cNvSpPr>
            <a:spLocks noGrp="1"/>
          </p:cNvSpPr>
          <p:nvPr/>
        </p:nvSpPr>
        <p:spPr>
          <a:xfrm>
            <a:off x="7219950" y="6838950"/>
            <a:ext cx="10229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526274"/>
                </a:solidFill>
              </a:defRPr>
            </a:pPr>
            <a:r>
              <a:rPr sz="1650" b="0">
                <a:solidFill>
                  <a:srgbClr val="526274"/>
                </a:solidFill>
              </a:rPr>
              <a:t>监控看板、告警页面、工单流程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F997E81-051C-404F-86CF-F050D95C5F12}"/>
              </a:ext>
            </a:extLst>
          </p:cNvPr>
          <p:cNvSpPr>
            <a:spLocks noGrp="1"/>
          </p:cNvSpPr>
          <p:nvPr/>
        </p:nvSpPr>
        <p:spPr>
          <a:xfrm>
            <a:off x="723900" y="7689533"/>
            <a:ext cx="16840200" cy="617220"/>
          </a:xfrm>
          <a:prstGeom prst="roundRect">
            <a:avLst>
              <a:gd name="adj" fmla="val 6173"/>
            </a:avLst>
          </a:prstGeom>
          <a:solidFill>
            <a:srgbClr val="EAF6F4"/>
          </a:solidFill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35261D4-16FE-4483-9BAD-A78BD0228B45}"/>
              </a:ext>
            </a:extLst>
          </p:cNvPr>
          <p:cNvSpPr>
            <a:spLocks noGrp="1"/>
          </p:cNvSpPr>
          <p:nvPr/>
        </p:nvSpPr>
        <p:spPr>
          <a:xfrm>
            <a:off x="990600" y="7867650"/>
            <a:ext cx="16306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E9488"/>
                </a:solidFill>
              </a:defRPr>
            </a:pPr>
            <a:r>
              <a:rPr sz="1800" b="1">
                <a:solidFill>
                  <a:srgbClr val="0E9488"/>
                </a:solidFill>
              </a:rPr>
              <a:t>整体数据流：设备上报数据 → 数据预处理 → LSTM AutoEncoder 推理 → 计算异常得分 → 业务规则复核 → 生成告警和工单 → 运维反馈进入持续训练。</a:t>
            </a:r>
          </a:p>
        </p:txBody>
      </p:sp>
    </p:spTree>
    <p:extLst>
      <p:ext uri="{BB962C8B-B14F-4D97-AF65-F5344CB8AC3E}">
        <p14:creationId xmlns:p14="http://schemas.microsoft.com/office/powerpoint/2010/main" val="134292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bg">
            <a:extLst>
              <a:ext uri="{FF2B5EF4-FFF2-40B4-BE49-F238E27FC236}">
                <a16:creationId xmlns:a16="http://schemas.microsoft.com/office/drawing/2014/main" id="{009BED30-8125-44A8-865D-7721AC0E03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8D52E65-BC61-4015-9910-803BDE6E517C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实验数据与特征工程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4862DE3-A643-45B0-9B27-18CA415C5E11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6896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模型输入不是单一读数，而是 24 个时间步 × 7 个特征的多维时序窗口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D52E244-369F-44FA-8B95-B9ECB2FA5F32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EF8F4-53C3-4987-8CAA-15EA7CCEEEA4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314325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7E4E91-60A8-4FAA-937C-6E384F729B81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914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特征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62C428-1CDE-476D-8847-B64C27436679}"/>
              </a:ext>
            </a:extLst>
          </p:cNvPr>
          <p:cNvSpPr>
            <a:spLocks noGrp="1"/>
          </p:cNvSpPr>
          <p:nvPr/>
        </p:nvSpPr>
        <p:spPr>
          <a:xfrm>
            <a:off x="3867150" y="1861185"/>
            <a:ext cx="5445252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AD5AD0-CC47-460C-8859-E85133B93F19}"/>
              </a:ext>
            </a:extLst>
          </p:cNvPr>
          <p:cNvSpPr>
            <a:spLocks noGrp="1"/>
          </p:cNvSpPr>
          <p:nvPr/>
        </p:nvSpPr>
        <p:spPr>
          <a:xfrm>
            <a:off x="3981450" y="1962150"/>
            <a:ext cx="521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含义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D0F0BE-8CE6-4212-BF69-9620AB93272B}"/>
              </a:ext>
            </a:extLst>
          </p:cNvPr>
          <p:cNvSpPr>
            <a:spLocks noGrp="1"/>
          </p:cNvSpPr>
          <p:nvPr/>
        </p:nvSpPr>
        <p:spPr>
          <a:xfrm>
            <a:off x="723900" y="2337435"/>
            <a:ext cx="3143250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DEE496-8121-4B23-BD6C-F12343E55200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instant_flow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E2C5F6-F974-4E6D-846A-A661BDDA9FF2}"/>
              </a:ext>
            </a:extLst>
          </p:cNvPr>
          <p:cNvSpPr>
            <a:spLocks noGrp="1"/>
          </p:cNvSpPr>
          <p:nvPr/>
        </p:nvSpPr>
        <p:spPr>
          <a:xfrm>
            <a:off x="3867150" y="2337435"/>
            <a:ext cx="5445252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6A9F0-E7C2-413D-BE3A-A086BC0A7908}"/>
              </a:ext>
            </a:extLst>
          </p:cNvPr>
          <p:cNvSpPr>
            <a:spLocks noGrp="1"/>
          </p:cNvSpPr>
          <p:nvPr/>
        </p:nvSpPr>
        <p:spPr>
          <a:xfrm>
            <a:off x="3981450" y="24193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瞬时流量，反映当前用气速度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60627B-4CF3-4131-AFB8-EC76D9FACCBF}"/>
              </a:ext>
            </a:extLst>
          </p:cNvPr>
          <p:cNvSpPr>
            <a:spLocks noGrp="1"/>
          </p:cNvSpPr>
          <p:nvPr/>
        </p:nvSpPr>
        <p:spPr>
          <a:xfrm>
            <a:off x="723900" y="2908935"/>
            <a:ext cx="3143250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A7A7F0-B3C2-492A-AE64-27B0939F98D3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cumulative_usage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327947-F160-42FB-9F2F-846818A47768}"/>
              </a:ext>
            </a:extLst>
          </p:cNvPr>
          <p:cNvSpPr>
            <a:spLocks noGrp="1"/>
          </p:cNvSpPr>
          <p:nvPr/>
        </p:nvSpPr>
        <p:spPr>
          <a:xfrm>
            <a:off x="3867150" y="2908935"/>
            <a:ext cx="5445252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740C81-E0FE-49DA-AC02-FAEEE00333F0}"/>
              </a:ext>
            </a:extLst>
          </p:cNvPr>
          <p:cNvSpPr>
            <a:spLocks noGrp="1"/>
          </p:cNvSpPr>
          <p:nvPr/>
        </p:nvSpPr>
        <p:spPr>
          <a:xfrm>
            <a:off x="3981450" y="29908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累计用气量，反映长期用气趋势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B3C591-3358-4EBA-87BC-4344F1948FF7}"/>
              </a:ext>
            </a:extLst>
          </p:cNvPr>
          <p:cNvSpPr>
            <a:spLocks noGrp="1"/>
          </p:cNvSpPr>
          <p:nvPr/>
        </p:nvSpPr>
        <p:spPr>
          <a:xfrm>
            <a:off x="723900" y="3480435"/>
            <a:ext cx="3143250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215C72-62C3-493C-994E-411894B75A8E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battery_voltage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434E86-4B86-4FF2-886A-26DF18E32F6D}"/>
              </a:ext>
            </a:extLst>
          </p:cNvPr>
          <p:cNvSpPr>
            <a:spLocks noGrp="1"/>
          </p:cNvSpPr>
          <p:nvPr/>
        </p:nvSpPr>
        <p:spPr>
          <a:xfrm>
            <a:off x="3867150" y="3480435"/>
            <a:ext cx="5445252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BA1822-7AD7-40C3-BC3B-440C56A29E90}"/>
              </a:ext>
            </a:extLst>
          </p:cNvPr>
          <p:cNvSpPr>
            <a:spLocks noGrp="1"/>
          </p:cNvSpPr>
          <p:nvPr/>
        </p:nvSpPr>
        <p:spPr>
          <a:xfrm>
            <a:off x="3981450" y="35623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电池电压，反映设备供电状态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25486A-AD08-4387-BC53-C6057C34F036}"/>
              </a:ext>
            </a:extLst>
          </p:cNvPr>
          <p:cNvSpPr>
            <a:spLocks noGrp="1"/>
          </p:cNvSpPr>
          <p:nvPr/>
        </p:nvSpPr>
        <p:spPr>
          <a:xfrm>
            <a:off x="723900" y="4051935"/>
            <a:ext cx="3143250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D10E7D-1DEF-412C-BBF5-3C68D78A4B38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signal_strength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B293E5-A0D5-414C-8C83-AD15816AB101}"/>
              </a:ext>
            </a:extLst>
          </p:cNvPr>
          <p:cNvSpPr>
            <a:spLocks noGrp="1"/>
          </p:cNvSpPr>
          <p:nvPr/>
        </p:nvSpPr>
        <p:spPr>
          <a:xfrm>
            <a:off x="3867150" y="4051935"/>
            <a:ext cx="5445252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2EB992-6F53-4EA5-891A-2A2FFFF9161A}"/>
              </a:ext>
            </a:extLst>
          </p:cNvPr>
          <p:cNvSpPr>
            <a:spLocks noGrp="1"/>
          </p:cNvSpPr>
          <p:nvPr/>
        </p:nvSpPr>
        <p:spPr>
          <a:xfrm>
            <a:off x="3981450" y="41338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信号强度，反映通信质量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4E2E5B-1CB5-4A6A-B384-634953EADFC3}"/>
              </a:ext>
            </a:extLst>
          </p:cNvPr>
          <p:cNvSpPr>
            <a:spLocks noGrp="1"/>
          </p:cNvSpPr>
          <p:nvPr/>
        </p:nvSpPr>
        <p:spPr>
          <a:xfrm>
            <a:off x="723900" y="4623435"/>
            <a:ext cx="3143250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42057B-7EF8-420F-AFBD-52BCBD31BCAE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valve_state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A4C00C-3AAC-4BB4-B6ED-AF324A20A5FA}"/>
              </a:ext>
            </a:extLst>
          </p:cNvPr>
          <p:cNvSpPr>
            <a:spLocks noGrp="1"/>
          </p:cNvSpPr>
          <p:nvPr/>
        </p:nvSpPr>
        <p:spPr>
          <a:xfrm>
            <a:off x="3867150" y="4623435"/>
            <a:ext cx="5445252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40009B-C159-4336-90C1-B6294CC39B24}"/>
              </a:ext>
            </a:extLst>
          </p:cNvPr>
          <p:cNvSpPr>
            <a:spLocks noGrp="1"/>
          </p:cNvSpPr>
          <p:nvPr/>
        </p:nvSpPr>
        <p:spPr>
          <a:xfrm>
            <a:off x="3981450" y="47053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阀门状态，反映开阀或关阀情况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E927E9-74DA-4DB0-A7E7-03299E940A37}"/>
              </a:ext>
            </a:extLst>
          </p:cNvPr>
          <p:cNvSpPr>
            <a:spLocks noGrp="1"/>
          </p:cNvSpPr>
          <p:nvPr/>
        </p:nvSpPr>
        <p:spPr>
          <a:xfrm>
            <a:off x="723900" y="5194935"/>
            <a:ext cx="3143250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DF4862-A51D-48C0-92EF-9701B6597F63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temperature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DBA869-A07B-48FE-8EA1-36666767E892}"/>
              </a:ext>
            </a:extLst>
          </p:cNvPr>
          <p:cNvSpPr>
            <a:spLocks noGrp="1"/>
          </p:cNvSpPr>
          <p:nvPr/>
        </p:nvSpPr>
        <p:spPr>
          <a:xfrm>
            <a:off x="3867150" y="5194935"/>
            <a:ext cx="5445252" cy="5524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54DC72E-9192-47F9-81D9-8001CCD1ACFA}"/>
              </a:ext>
            </a:extLst>
          </p:cNvPr>
          <p:cNvSpPr>
            <a:spLocks noGrp="1"/>
          </p:cNvSpPr>
          <p:nvPr/>
        </p:nvSpPr>
        <p:spPr>
          <a:xfrm>
            <a:off x="3981450" y="52768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环境温度，反映运行环境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3F1687-12DC-4950-933E-FE72EE4A5BAF}"/>
              </a:ext>
            </a:extLst>
          </p:cNvPr>
          <p:cNvSpPr>
            <a:spLocks noGrp="1"/>
          </p:cNvSpPr>
          <p:nvPr/>
        </p:nvSpPr>
        <p:spPr>
          <a:xfrm>
            <a:off x="723900" y="5766435"/>
            <a:ext cx="3143250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A9B0A6-E01E-4F2C-A04A-FD238C0FB90E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2914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pressure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5C78D1-42A4-41D0-8BBD-F9C24341DCE9}"/>
              </a:ext>
            </a:extLst>
          </p:cNvPr>
          <p:cNvSpPr>
            <a:spLocks noGrp="1"/>
          </p:cNvSpPr>
          <p:nvPr/>
        </p:nvSpPr>
        <p:spPr>
          <a:xfrm>
            <a:off x="3867150" y="5766435"/>
            <a:ext cx="5445252" cy="552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1646B2-C4BB-4384-A21B-F9B20BA3E5D2}"/>
              </a:ext>
            </a:extLst>
          </p:cNvPr>
          <p:cNvSpPr>
            <a:spLocks noGrp="1"/>
          </p:cNvSpPr>
          <p:nvPr/>
        </p:nvSpPr>
        <p:spPr>
          <a:xfrm>
            <a:off x="3981450" y="5848350"/>
            <a:ext cx="521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526274"/>
                </a:solidFill>
              </a:defRPr>
            </a:pPr>
            <a:r>
              <a:rPr sz="1350" b="0">
                <a:solidFill>
                  <a:srgbClr val="526274"/>
                </a:solidFill>
              </a:rPr>
              <a:t>管网压力，反映燃气输送状态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66EA9B-A4A5-4DB2-8A60-113C90AFD1AF}"/>
              </a:ext>
            </a:extLst>
          </p:cNvPr>
          <p:cNvSpPr>
            <a:spLocks noGrp="1"/>
          </p:cNvSpPr>
          <p:nvPr/>
        </p:nvSpPr>
        <p:spPr>
          <a:xfrm>
            <a:off x="9639300" y="4114800"/>
            <a:ext cx="79248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667B7"/>
                </a:solidFill>
              </a:defRPr>
            </a:pPr>
            <a:r>
              <a:rPr sz="4200" b="1">
                <a:solidFill>
                  <a:srgbClr val="1667B7"/>
                </a:solidFill>
              </a:rPr>
              <a:t>24 × 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7491A2-D4F7-4D61-9DA3-97A17E9B7F48}"/>
              </a:ext>
            </a:extLst>
          </p:cNvPr>
          <p:cNvSpPr>
            <a:spLocks noGrp="1"/>
          </p:cNvSpPr>
          <p:nvPr/>
        </p:nvSpPr>
        <p:spPr>
          <a:xfrm>
            <a:off x="9639300" y="483870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模型输入维度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47C950-9640-43C3-8DFB-98E5E5925DBD}"/>
              </a:ext>
            </a:extLst>
          </p:cNvPr>
          <p:cNvSpPr>
            <a:spLocks noGrp="1"/>
          </p:cNvSpPr>
          <p:nvPr/>
        </p:nvSpPr>
        <p:spPr>
          <a:xfrm>
            <a:off x="9639300" y="5143500"/>
            <a:ext cx="7924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24 个采样点，每点 7 个特征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5A4C8E7-0F8F-4A7B-B1A7-F10F3FB121FF}"/>
              </a:ext>
            </a:extLst>
          </p:cNvPr>
          <p:cNvSpPr>
            <a:spLocks noGrp="1"/>
          </p:cNvSpPr>
          <p:nvPr/>
        </p:nvSpPr>
        <p:spPr>
          <a:xfrm>
            <a:off x="9636252" y="5515927"/>
            <a:ext cx="7927848" cy="1985010"/>
          </a:xfrm>
          <a:prstGeom prst="roundRect">
            <a:avLst>
              <a:gd name="adj" fmla="val 1919"/>
            </a:avLst>
          </a:prstGeom>
          <a:solidFill>
            <a:srgbClr val="FFFFFF"/>
          </a:solidFill>
        </p:spPr>
      </p:sp>
      <p:sp>
        <p:nvSpPr>
          <p:cNvPr id="41" name="bullet-0">
            <a:extLst>
              <a:ext uri="{FF2B5EF4-FFF2-40B4-BE49-F238E27FC236}">
                <a16:creationId xmlns:a16="http://schemas.microsoft.com/office/drawing/2014/main" id="{B37BE6E6-104A-4392-B24A-E070D005C6B9}"/>
              </a:ext>
            </a:extLst>
          </p:cNvPr>
          <p:cNvSpPr>
            <a:spLocks noGrp="1"/>
          </p:cNvSpPr>
          <p:nvPr/>
        </p:nvSpPr>
        <p:spPr>
          <a:xfrm>
            <a:off x="9906000" y="579120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按设备编号和时间戳排序</a:t>
            </a:r>
          </a:p>
        </p:txBody>
      </p:sp>
      <p:sp>
        <p:nvSpPr>
          <p:cNvPr id="42" name="bullet-1">
            <a:extLst>
              <a:ext uri="{FF2B5EF4-FFF2-40B4-BE49-F238E27FC236}">
                <a16:creationId xmlns:a16="http://schemas.microsoft.com/office/drawing/2014/main" id="{6B4157A6-8179-4C1F-8220-B914C34372E1}"/>
              </a:ext>
            </a:extLst>
          </p:cNvPr>
          <p:cNvSpPr>
            <a:spLocks noGrp="1"/>
          </p:cNvSpPr>
          <p:nvPr/>
        </p:nvSpPr>
        <p:spPr>
          <a:xfrm>
            <a:off x="9906000" y="617220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缺失值、无效值和极端值清洗</a:t>
            </a:r>
          </a:p>
        </p:txBody>
      </p:sp>
      <p:sp>
        <p:nvSpPr>
          <p:cNvPr id="43" name="bullet-2">
            <a:extLst>
              <a:ext uri="{FF2B5EF4-FFF2-40B4-BE49-F238E27FC236}">
                <a16:creationId xmlns:a16="http://schemas.microsoft.com/office/drawing/2014/main" id="{EE34E3A3-2C33-46E9-B595-3D97321A5A1A}"/>
              </a:ext>
            </a:extLst>
          </p:cNvPr>
          <p:cNvSpPr>
            <a:spLocks noGrp="1"/>
          </p:cNvSpPr>
          <p:nvPr/>
        </p:nvSpPr>
        <p:spPr>
          <a:xfrm>
            <a:off x="9906000" y="657225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采用 Z-Score 标准化消除量纲差异</a:t>
            </a:r>
          </a:p>
        </p:txBody>
      </p:sp>
      <p:sp>
        <p:nvSpPr>
          <p:cNvPr id="44" name="bullet-3">
            <a:extLst>
              <a:ext uri="{FF2B5EF4-FFF2-40B4-BE49-F238E27FC236}">
                <a16:creationId xmlns:a16="http://schemas.microsoft.com/office/drawing/2014/main" id="{A31FE45B-AE47-4F4C-9BBA-0C8A0F4194D6}"/>
              </a:ext>
            </a:extLst>
          </p:cNvPr>
          <p:cNvSpPr>
            <a:spLocks noGrp="1"/>
          </p:cNvSpPr>
          <p:nvPr/>
        </p:nvSpPr>
        <p:spPr>
          <a:xfrm>
            <a:off x="9906000" y="6972300"/>
            <a:ext cx="7391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滑动窗口步长为 1，提升短时异常捕捉能力</a:t>
            </a:r>
          </a:p>
        </p:txBody>
      </p:sp>
    </p:spTree>
    <p:extLst>
      <p:ext uri="{BB962C8B-B14F-4D97-AF65-F5344CB8AC3E}">
        <p14:creationId xmlns:p14="http://schemas.microsoft.com/office/powerpoint/2010/main" val="109905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-bg">
            <a:extLst>
              <a:ext uri="{FF2B5EF4-FFF2-40B4-BE49-F238E27FC236}">
                <a16:creationId xmlns:a16="http://schemas.microsoft.com/office/drawing/2014/main" id="{DEA7B0D4-F573-4915-96CE-33184720C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5B94C28-BFE9-48D5-A2FD-8D0A8641CB29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异常场景构造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7CBFA37-F0F9-47A6-B54A-4CC23906C311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617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通过模拟注入多类异常，覆盖用气异常、硬件异常和通信异常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E198E86-2051-42DE-8300-66828D4E8ABD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926C2B-88F1-47CD-BEE5-CED20B765817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24765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D6D401-0445-469B-96E3-21A22713D2C3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247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异常类型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3FA827-6C88-4287-AF5B-A627019DBE3D}"/>
              </a:ext>
            </a:extLst>
          </p:cNvPr>
          <p:cNvSpPr>
            <a:spLocks noGrp="1"/>
          </p:cNvSpPr>
          <p:nvPr/>
        </p:nvSpPr>
        <p:spPr>
          <a:xfrm>
            <a:off x="3200400" y="1861185"/>
            <a:ext cx="5334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26F348-FE62-46C1-8B44-1CCC36B794A4}"/>
              </a:ext>
            </a:extLst>
          </p:cNvPr>
          <p:cNvSpPr>
            <a:spLocks noGrp="1"/>
          </p:cNvSpPr>
          <p:nvPr/>
        </p:nvSpPr>
        <p:spPr>
          <a:xfrm>
            <a:off x="3314700" y="1962150"/>
            <a:ext cx="5105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构造方式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4B393-4426-4FAA-8F93-1DF0A2CFD469}"/>
              </a:ext>
            </a:extLst>
          </p:cNvPr>
          <p:cNvSpPr>
            <a:spLocks noGrp="1"/>
          </p:cNvSpPr>
          <p:nvPr/>
        </p:nvSpPr>
        <p:spPr>
          <a:xfrm>
            <a:off x="8534400" y="1861185"/>
            <a:ext cx="90297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E779A7-0C26-4C29-9572-238104F27319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8801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可能原因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FAF84F-0206-4943-AA00-7540785DDEB8}"/>
              </a:ext>
            </a:extLst>
          </p:cNvPr>
          <p:cNvSpPr>
            <a:spLocks noGrp="1"/>
          </p:cNvSpPr>
          <p:nvPr/>
        </p:nvSpPr>
        <p:spPr>
          <a:xfrm>
            <a:off x="723900" y="2337435"/>
            <a:ext cx="24765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7F374F-F934-44FC-94CD-217DA4DE8FA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流量激增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6AF2F9-82DC-4398-A409-CFE641CA8C3E}"/>
              </a:ext>
            </a:extLst>
          </p:cNvPr>
          <p:cNvSpPr>
            <a:spLocks noGrp="1"/>
          </p:cNvSpPr>
          <p:nvPr/>
        </p:nvSpPr>
        <p:spPr>
          <a:xfrm>
            <a:off x="3200400" y="2337435"/>
            <a:ext cx="53340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12C057-C5A8-472C-ADFE-0BEF07338B66}"/>
              </a:ext>
            </a:extLst>
          </p:cNvPr>
          <p:cNvSpPr>
            <a:spLocks noGrp="1"/>
          </p:cNvSpPr>
          <p:nvPr/>
        </p:nvSpPr>
        <p:spPr>
          <a:xfrm>
            <a:off x="3314700" y="241935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某一时间段瞬时流量放大数倍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8E832-0443-45C8-998E-C3CB2D619BCF}"/>
              </a:ext>
            </a:extLst>
          </p:cNvPr>
          <p:cNvSpPr>
            <a:spLocks noGrp="1"/>
          </p:cNvSpPr>
          <p:nvPr/>
        </p:nvSpPr>
        <p:spPr>
          <a:xfrm>
            <a:off x="8534400" y="2337435"/>
            <a:ext cx="90297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D6A75A-CBB8-4E06-A0A0-EF46E0048BA2}"/>
              </a:ext>
            </a:extLst>
          </p:cNvPr>
          <p:cNvSpPr>
            <a:spLocks noGrp="1"/>
          </p:cNvSpPr>
          <p:nvPr/>
        </p:nvSpPr>
        <p:spPr>
          <a:xfrm>
            <a:off x="8648700" y="241935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疑似漏气、阀门异常或用气突增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B5CF31-2870-4B60-A1BD-1F26BF0A7AFA}"/>
              </a:ext>
            </a:extLst>
          </p:cNvPr>
          <p:cNvSpPr>
            <a:spLocks noGrp="1"/>
          </p:cNvSpPr>
          <p:nvPr/>
        </p:nvSpPr>
        <p:spPr>
          <a:xfrm>
            <a:off x="723900" y="3004185"/>
            <a:ext cx="24765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23D10F-F05D-47F2-A5AA-242224869443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电压突降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6A79AF-DFA6-4ACA-AAF5-514BBE0D92AA}"/>
              </a:ext>
            </a:extLst>
          </p:cNvPr>
          <p:cNvSpPr>
            <a:spLocks noGrp="1"/>
          </p:cNvSpPr>
          <p:nvPr/>
        </p:nvSpPr>
        <p:spPr>
          <a:xfrm>
            <a:off x="3200400" y="3004185"/>
            <a:ext cx="53340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9CD2E3-0822-418B-83FE-3B481DC58FF6}"/>
              </a:ext>
            </a:extLst>
          </p:cNvPr>
          <p:cNvSpPr>
            <a:spLocks noGrp="1"/>
          </p:cNvSpPr>
          <p:nvPr/>
        </p:nvSpPr>
        <p:spPr>
          <a:xfrm>
            <a:off x="3314700" y="308610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电池电压降低到异常范围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F2677E-DE5D-4DCD-99EE-93D26A1F8B72}"/>
              </a:ext>
            </a:extLst>
          </p:cNvPr>
          <p:cNvSpPr>
            <a:spLocks noGrp="1"/>
          </p:cNvSpPr>
          <p:nvPr/>
        </p:nvSpPr>
        <p:spPr>
          <a:xfrm>
            <a:off x="8534400" y="3004185"/>
            <a:ext cx="90297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463AA2-D98E-4715-9BD6-95D60ED6DB13}"/>
              </a:ext>
            </a:extLst>
          </p:cNvPr>
          <p:cNvSpPr>
            <a:spLocks noGrp="1"/>
          </p:cNvSpPr>
          <p:nvPr/>
        </p:nvSpPr>
        <p:spPr>
          <a:xfrm>
            <a:off x="8648700" y="308610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电池耗尽或供电故障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F71E17-6B21-43B0-AD7F-A73380F356C2}"/>
              </a:ext>
            </a:extLst>
          </p:cNvPr>
          <p:cNvSpPr>
            <a:spLocks noGrp="1"/>
          </p:cNvSpPr>
          <p:nvPr/>
        </p:nvSpPr>
        <p:spPr>
          <a:xfrm>
            <a:off x="723900" y="3670935"/>
            <a:ext cx="24765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3BAEB4-6B7E-4A9A-AF6C-B69075C79D4C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信号异常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72B3A6-7C26-48EC-953F-AE1123632D0C}"/>
              </a:ext>
            </a:extLst>
          </p:cNvPr>
          <p:cNvSpPr>
            <a:spLocks noGrp="1"/>
          </p:cNvSpPr>
          <p:nvPr/>
        </p:nvSpPr>
        <p:spPr>
          <a:xfrm>
            <a:off x="3200400" y="3670935"/>
            <a:ext cx="53340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DBEEC0E-09B7-47D6-8A68-91258AA4E931}"/>
              </a:ext>
            </a:extLst>
          </p:cNvPr>
          <p:cNvSpPr>
            <a:spLocks noGrp="1"/>
          </p:cNvSpPr>
          <p:nvPr/>
        </p:nvSpPr>
        <p:spPr>
          <a:xfrm>
            <a:off x="3314700" y="375285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信号强度降低或随机缺失数据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64B925-497B-496D-BBFA-EE7508D386ED}"/>
              </a:ext>
            </a:extLst>
          </p:cNvPr>
          <p:cNvSpPr>
            <a:spLocks noGrp="1"/>
          </p:cNvSpPr>
          <p:nvPr/>
        </p:nvSpPr>
        <p:spPr>
          <a:xfrm>
            <a:off x="8534400" y="3670935"/>
            <a:ext cx="90297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B25495-686F-478E-92D2-ED9FFDE6185F}"/>
              </a:ext>
            </a:extLst>
          </p:cNvPr>
          <p:cNvSpPr>
            <a:spLocks noGrp="1"/>
          </p:cNvSpPr>
          <p:nvPr/>
        </p:nvSpPr>
        <p:spPr>
          <a:xfrm>
            <a:off x="8648700" y="375285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通信干扰、网络覆盖较差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7056ED-2476-48E1-9236-E5C6672F4331}"/>
              </a:ext>
            </a:extLst>
          </p:cNvPr>
          <p:cNvSpPr>
            <a:spLocks noGrp="1"/>
          </p:cNvSpPr>
          <p:nvPr/>
        </p:nvSpPr>
        <p:spPr>
          <a:xfrm>
            <a:off x="723900" y="4337685"/>
            <a:ext cx="24765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AC7172-CB8A-47BD-876C-9468E6781216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累计用气量跳变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E537C7-776F-4E15-8181-25AE42004BC9}"/>
              </a:ext>
            </a:extLst>
          </p:cNvPr>
          <p:cNvSpPr>
            <a:spLocks noGrp="1"/>
          </p:cNvSpPr>
          <p:nvPr/>
        </p:nvSpPr>
        <p:spPr>
          <a:xfrm>
            <a:off x="3200400" y="4337685"/>
            <a:ext cx="53340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30C4D6-ABBE-4555-9481-7A734697A8C5}"/>
              </a:ext>
            </a:extLst>
          </p:cNvPr>
          <p:cNvSpPr>
            <a:spLocks noGrp="1"/>
          </p:cNvSpPr>
          <p:nvPr/>
        </p:nvSpPr>
        <p:spPr>
          <a:xfrm>
            <a:off x="3314700" y="441960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累计用气量加入突然偏移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2B8750-833A-40DF-A612-024DD431812B}"/>
              </a:ext>
            </a:extLst>
          </p:cNvPr>
          <p:cNvSpPr>
            <a:spLocks noGrp="1"/>
          </p:cNvSpPr>
          <p:nvPr/>
        </p:nvSpPr>
        <p:spPr>
          <a:xfrm>
            <a:off x="8534400" y="4337685"/>
            <a:ext cx="90297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EDA6F59-A68A-455A-BA86-69F3EB341F33}"/>
              </a:ext>
            </a:extLst>
          </p:cNvPr>
          <p:cNvSpPr>
            <a:spLocks noGrp="1"/>
          </p:cNvSpPr>
          <p:nvPr/>
        </p:nvSpPr>
        <p:spPr>
          <a:xfrm>
            <a:off x="8648700" y="441960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计量异常或数据采集错误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2B1322E-781A-46DC-A7A5-2E18503D7CD0}"/>
              </a:ext>
            </a:extLst>
          </p:cNvPr>
          <p:cNvSpPr>
            <a:spLocks noGrp="1"/>
          </p:cNvSpPr>
          <p:nvPr/>
        </p:nvSpPr>
        <p:spPr>
          <a:xfrm>
            <a:off x="723900" y="5004435"/>
            <a:ext cx="24765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45C802-F230-4772-A56E-E421E8FCB723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压力异常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77DE51-A21E-4E45-A7B9-73803EB0BEC6}"/>
              </a:ext>
            </a:extLst>
          </p:cNvPr>
          <p:cNvSpPr>
            <a:spLocks noGrp="1"/>
          </p:cNvSpPr>
          <p:nvPr/>
        </p:nvSpPr>
        <p:spPr>
          <a:xfrm>
            <a:off x="3200400" y="5004435"/>
            <a:ext cx="53340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12A6008-A8EA-4222-B6A2-D6E168335D77}"/>
              </a:ext>
            </a:extLst>
          </p:cNvPr>
          <p:cNvSpPr>
            <a:spLocks noGrp="1"/>
          </p:cNvSpPr>
          <p:nvPr/>
        </p:nvSpPr>
        <p:spPr>
          <a:xfrm>
            <a:off x="3314700" y="508635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管网压力调低或调高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3CE5E6-FBB7-452D-9A94-C36A46C4E73B}"/>
              </a:ext>
            </a:extLst>
          </p:cNvPr>
          <p:cNvSpPr>
            <a:spLocks noGrp="1"/>
          </p:cNvSpPr>
          <p:nvPr/>
        </p:nvSpPr>
        <p:spPr>
          <a:xfrm>
            <a:off x="8534400" y="5004435"/>
            <a:ext cx="9029700" cy="647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F4CF5A3-E79A-4328-AAC0-66BD9D2E83AC}"/>
              </a:ext>
            </a:extLst>
          </p:cNvPr>
          <p:cNvSpPr>
            <a:spLocks noGrp="1"/>
          </p:cNvSpPr>
          <p:nvPr/>
        </p:nvSpPr>
        <p:spPr>
          <a:xfrm>
            <a:off x="8648700" y="508635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管网波动或传感器异常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0FDFF7-F892-4A26-8CBA-B0C6DF0A814D}"/>
              </a:ext>
            </a:extLst>
          </p:cNvPr>
          <p:cNvSpPr>
            <a:spLocks noGrp="1"/>
          </p:cNvSpPr>
          <p:nvPr/>
        </p:nvSpPr>
        <p:spPr>
          <a:xfrm>
            <a:off x="723900" y="5671185"/>
            <a:ext cx="24765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1689BDA-8C49-4C89-8AC5-8CDA390AAD60}"/>
              </a:ext>
            </a:extLst>
          </p:cNvPr>
          <p:cNvSpPr>
            <a:spLocks noGrp="1"/>
          </p:cNvSpPr>
          <p:nvPr/>
        </p:nvSpPr>
        <p:spPr>
          <a:xfrm>
            <a:off x="838200" y="575310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长时间静止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8755B5-9041-4772-9502-4DB0A1BD968D}"/>
              </a:ext>
            </a:extLst>
          </p:cNvPr>
          <p:cNvSpPr>
            <a:spLocks noGrp="1"/>
          </p:cNvSpPr>
          <p:nvPr/>
        </p:nvSpPr>
        <p:spPr>
          <a:xfrm>
            <a:off x="3200400" y="5671185"/>
            <a:ext cx="53340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394FFC0-554F-4F1C-A134-15DBE4C84DA3}"/>
              </a:ext>
            </a:extLst>
          </p:cNvPr>
          <p:cNvSpPr>
            <a:spLocks noGrp="1"/>
          </p:cNvSpPr>
          <p:nvPr/>
        </p:nvSpPr>
        <p:spPr>
          <a:xfrm>
            <a:off x="3314700" y="5753100"/>
            <a:ext cx="510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流量长时间保持不变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85D5BC-935F-47EF-AACB-4CE96877257F}"/>
              </a:ext>
            </a:extLst>
          </p:cNvPr>
          <p:cNvSpPr>
            <a:spLocks noGrp="1"/>
          </p:cNvSpPr>
          <p:nvPr/>
        </p:nvSpPr>
        <p:spPr>
          <a:xfrm>
            <a:off x="8534400" y="5671185"/>
            <a:ext cx="9029700" cy="6477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2425D22-C0D0-4B01-90A1-BC0F23248140}"/>
              </a:ext>
            </a:extLst>
          </p:cNvPr>
          <p:cNvSpPr>
            <a:spLocks noGrp="1"/>
          </p:cNvSpPr>
          <p:nvPr/>
        </p:nvSpPr>
        <p:spPr>
          <a:xfrm>
            <a:off x="8648700" y="5753100"/>
            <a:ext cx="880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设备损坏或传感器失效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CF337AB-4284-4E00-B031-CEC3F2C54C9E}"/>
              </a:ext>
            </a:extLst>
          </p:cNvPr>
          <p:cNvSpPr>
            <a:spLocks noGrp="1"/>
          </p:cNvSpPr>
          <p:nvPr/>
        </p:nvSpPr>
        <p:spPr>
          <a:xfrm>
            <a:off x="723900" y="6585585"/>
            <a:ext cx="8305800" cy="1649730"/>
          </a:xfrm>
          <a:prstGeom prst="roundRect">
            <a:avLst>
              <a:gd name="adj" fmla="val 2309"/>
            </a:avLst>
          </a:prstGeom>
          <a:solidFill>
            <a:srgbClr val="EAF2FC"/>
          </a:solidFill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481300E-0B47-4EB1-8AEC-1B0096602B38}"/>
              </a:ext>
            </a:extLst>
          </p:cNvPr>
          <p:cNvSpPr>
            <a:spLocks noGrp="1"/>
          </p:cNvSpPr>
          <p:nvPr/>
        </p:nvSpPr>
        <p:spPr>
          <a:xfrm>
            <a:off x="952500" y="6819900"/>
            <a:ext cx="7848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667B7"/>
                </a:solidFill>
              </a:defRPr>
            </a:pPr>
            <a:r>
              <a:rPr sz="4200" b="1">
                <a:solidFill>
                  <a:srgbClr val="1667B7"/>
                </a:solidFill>
              </a:rPr>
              <a:t>85%-90%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3294E2-E55F-4600-9AF8-0EE387A3853B}"/>
              </a:ext>
            </a:extLst>
          </p:cNvPr>
          <p:cNvSpPr>
            <a:spLocks noGrp="1"/>
          </p:cNvSpPr>
          <p:nvPr/>
        </p:nvSpPr>
        <p:spPr>
          <a:xfrm>
            <a:off x="952500" y="752475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正常样本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73E5F20-B273-4963-BA73-06E34A282636}"/>
              </a:ext>
            </a:extLst>
          </p:cNvPr>
          <p:cNvSpPr>
            <a:spLocks noGrp="1"/>
          </p:cNvSpPr>
          <p:nvPr/>
        </p:nvSpPr>
        <p:spPr>
          <a:xfrm>
            <a:off x="952500" y="7829550"/>
            <a:ext cx="7848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符合真实燃气表多数时间正常的业务特征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FC155D6-4B18-4D96-ACA1-FE67B7B0116A}"/>
              </a:ext>
            </a:extLst>
          </p:cNvPr>
          <p:cNvSpPr>
            <a:spLocks noGrp="1"/>
          </p:cNvSpPr>
          <p:nvPr/>
        </p:nvSpPr>
        <p:spPr>
          <a:xfrm>
            <a:off x="9258300" y="6585585"/>
            <a:ext cx="8305800" cy="1649730"/>
          </a:xfrm>
          <a:prstGeom prst="roundRect">
            <a:avLst>
              <a:gd name="adj" fmla="val 2309"/>
            </a:avLst>
          </a:prstGeom>
          <a:solidFill>
            <a:srgbClr val="FFF4E3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203733B-0681-41E9-A1FD-AF5B24032329}"/>
              </a:ext>
            </a:extLst>
          </p:cNvPr>
          <p:cNvSpPr>
            <a:spLocks noGrp="1"/>
          </p:cNvSpPr>
          <p:nvPr/>
        </p:nvSpPr>
        <p:spPr>
          <a:xfrm>
            <a:off x="9486900" y="6819900"/>
            <a:ext cx="7848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E99B24"/>
                </a:solidFill>
              </a:defRPr>
            </a:pPr>
            <a:r>
              <a:rPr sz="4200" b="1">
                <a:solidFill>
                  <a:srgbClr val="E99B24"/>
                </a:solidFill>
              </a:rPr>
              <a:t>10%-15%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6657D5-CFB2-45D3-93DB-A3C7383873C9}"/>
              </a:ext>
            </a:extLst>
          </p:cNvPr>
          <p:cNvSpPr>
            <a:spLocks noGrp="1"/>
          </p:cNvSpPr>
          <p:nvPr/>
        </p:nvSpPr>
        <p:spPr>
          <a:xfrm>
            <a:off x="9486900" y="752475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异常样本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E575BC-FB0D-4C03-8347-99AD00F274A0}"/>
              </a:ext>
            </a:extLst>
          </p:cNvPr>
          <p:cNvSpPr>
            <a:spLocks noGrp="1"/>
          </p:cNvSpPr>
          <p:nvPr/>
        </p:nvSpPr>
        <p:spPr>
          <a:xfrm>
            <a:off x="9486900" y="7829550"/>
            <a:ext cx="7848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用于模型评估与阈值验证</a:t>
            </a:r>
          </a:p>
        </p:txBody>
      </p:sp>
    </p:spTree>
    <p:extLst>
      <p:ext uri="{BB962C8B-B14F-4D97-AF65-F5344CB8AC3E}">
        <p14:creationId xmlns:p14="http://schemas.microsoft.com/office/powerpoint/2010/main" val="174915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bg">
            <a:extLst>
              <a:ext uri="{FF2B5EF4-FFF2-40B4-BE49-F238E27FC236}">
                <a16:creationId xmlns:a16="http://schemas.microsoft.com/office/drawing/2014/main" id="{7B20B2F6-A64C-4C9F-9A24-03983ABED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6DDD4EE-27A7-417E-9E14-F44DD435DC71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核心模型：LSTM AutoEncoder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6E89017-503D-44EF-A93D-09926AA9F92B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867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利用 LSTM 学习时间依赖，利用自编码器重构误差识别异常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2067B0B4-801B-4B22-9EE4-773F86945591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C3C191A-64B1-4ADA-84F8-EF0C8C2E8998}"/>
              </a:ext>
            </a:extLst>
          </p:cNvPr>
          <p:cNvSpPr>
            <a:spLocks noGrp="1"/>
          </p:cNvSpPr>
          <p:nvPr/>
        </p:nvSpPr>
        <p:spPr>
          <a:xfrm>
            <a:off x="1600200" y="3601402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667B7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E954F5-D059-4C2A-ACE2-EDC101C8323E}"/>
              </a:ext>
            </a:extLst>
          </p:cNvPr>
          <p:cNvSpPr>
            <a:spLocks noGrp="1"/>
          </p:cNvSpPr>
          <p:nvPr/>
        </p:nvSpPr>
        <p:spPr>
          <a:xfrm>
            <a:off x="1600200" y="375285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EDA9F0-90D8-4DBE-8B56-D28155F0D60D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输入窗口 24×7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47E43-F740-4AAD-AC77-1338A182DC6C}"/>
              </a:ext>
            </a:extLst>
          </p:cNvPr>
          <p:cNvSpPr>
            <a:spLocks noGrp="1"/>
          </p:cNvSpPr>
          <p:nvPr/>
        </p:nvSpPr>
        <p:spPr>
          <a:xfrm>
            <a:off x="4057650" y="3601402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9488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546343-0345-4A3C-89B6-27646B1620C5}"/>
              </a:ext>
            </a:extLst>
          </p:cNvPr>
          <p:cNvSpPr>
            <a:spLocks noGrp="1"/>
          </p:cNvSpPr>
          <p:nvPr/>
        </p:nvSpPr>
        <p:spPr>
          <a:xfrm>
            <a:off x="4057650" y="375285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12624-7C5C-47F7-9194-F13EB32F2210}"/>
              </a:ext>
            </a:extLst>
          </p:cNvPr>
          <p:cNvSpPr>
            <a:spLocks noGrp="1"/>
          </p:cNvSpPr>
          <p:nvPr/>
        </p:nvSpPr>
        <p:spPr>
          <a:xfrm>
            <a:off x="3181350" y="422910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LSTM Encoder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31C767-C8E0-45D8-920A-CAC6EED62198}"/>
              </a:ext>
            </a:extLst>
          </p:cNvPr>
          <p:cNvSpPr>
            <a:spLocks noGrp="1"/>
          </p:cNvSpPr>
          <p:nvPr/>
        </p:nvSpPr>
        <p:spPr>
          <a:xfrm>
            <a:off x="6515100" y="3601402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E99B24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40D0FD-6ED1-4D06-8804-23A469110B67}"/>
              </a:ext>
            </a:extLst>
          </p:cNvPr>
          <p:cNvSpPr>
            <a:spLocks noGrp="1"/>
          </p:cNvSpPr>
          <p:nvPr/>
        </p:nvSpPr>
        <p:spPr>
          <a:xfrm>
            <a:off x="6515100" y="375285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1EA65B-BDE0-4F82-B91B-BCDD97EDCDA8}"/>
              </a:ext>
            </a:extLst>
          </p:cNvPr>
          <p:cNvSpPr>
            <a:spLocks noGrp="1"/>
          </p:cNvSpPr>
          <p:nvPr/>
        </p:nvSpPr>
        <p:spPr>
          <a:xfrm>
            <a:off x="5638800" y="422910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Latent Space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8C862F-3460-4340-9A71-EE9F12784A97}"/>
              </a:ext>
            </a:extLst>
          </p:cNvPr>
          <p:cNvSpPr>
            <a:spLocks noGrp="1"/>
          </p:cNvSpPr>
          <p:nvPr/>
        </p:nvSpPr>
        <p:spPr>
          <a:xfrm>
            <a:off x="8972550" y="3601402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E9488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B565EF-2744-4DDC-91C6-947152D5BF78}"/>
              </a:ext>
            </a:extLst>
          </p:cNvPr>
          <p:cNvSpPr>
            <a:spLocks noGrp="1"/>
          </p:cNvSpPr>
          <p:nvPr/>
        </p:nvSpPr>
        <p:spPr>
          <a:xfrm>
            <a:off x="8972550" y="375285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95A3CF-6123-41F6-A05D-84B2E8563C58}"/>
              </a:ext>
            </a:extLst>
          </p:cNvPr>
          <p:cNvSpPr>
            <a:spLocks noGrp="1"/>
          </p:cNvSpPr>
          <p:nvPr/>
        </p:nvSpPr>
        <p:spPr>
          <a:xfrm>
            <a:off x="8096250" y="422910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LSTM Decoder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A7A807-899B-433E-994D-0C728A9FCC3A}"/>
              </a:ext>
            </a:extLst>
          </p:cNvPr>
          <p:cNvSpPr>
            <a:spLocks noGrp="1"/>
          </p:cNvSpPr>
          <p:nvPr/>
        </p:nvSpPr>
        <p:spPr>
          <a:xfrm>
            <a:off x="11430000" y="3601402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D94C4C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4A80DA-D420-41B5-8A25-659B7D669FB0}"/>
              </a:ext>
            </a:extLst>
          </p:cNvPr>
          <p:cNvSpPr>
            <a:spLocks noGrp="1"/>
          </p:cNvSpPr>
          <p:nvPr/>
        </p:nvSpPr>
        <p:spPr>
          <a:xfrm>
            <a:off x="11430000" y="3752850"/>
            <a:ext cx="57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F471AF-9DB5-4478-A446-18E3ACF00434}"/>
              </a:ext>
            </a:extLst>
          </p:cNvPr>
          <p:cNvSpPr>
            <a:spLocks noGrp="1"/>
          </p:cNvSpPr>
          <p:nvPr/>
        </p:nvSpPr>
        <p:spPr>
          <a:xfrm>
            <a:off x="10553700" y="4229100"/>
            <a:ext cx="2286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MSE 异常得分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755778B-C8BD-42A9-9F8B-1C712D60D224}"/>
              </a:ext>
            </a:extLst>
          </p:cNvPr>
          <p:cNvSpPr>
            <a:spLocks noGrp="1"/>
          </p:cNvSpPr>
          <p:nvPr/>
        </p:nvSpPr>
        <p:spPr>
          <a:xfrm>
            <a:off x="723900" y="5430202"/>
            <a:ext cx="8277225" cy="2857500"/>
          </a:xfrm>
          <a:prstGeom prst="roundRect">
            <a:avLst>
              <a:gd name="adj" fmla="val 1333"/>
            </a:avLst>
          </a:prstGeom>
          <a:solidFill>
            <a:srgbClr val="FFFFFF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1ECE11-DBE1-4364-A54E-2F60B7C52F7D}"/>
              </a:ext>
            </a:extLst>
          </p:cNvPr>
          <p:cNvSpPr>
            <a:spLocks noGrp="1"/>
          </p:cNvSpPr>
          <p:nvPr/>
        </p:nvSpPr>
        <p:spPr>
          <a:xfrm>
            <a:off x="1009650" y="6324600"/>
            <a:ext cx="7715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B9C61"/>
                </a:solidFill>
              </a:defRPr>
            </a:pPr>
            <a:r>
              <a:rPr sz="2400" b="1">
                <a:solidFill>
                  <a:srgbClr val="2B9C61"/>
                </a:solidFill>
              </a:rPr>
              <a:t>正常窗口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643F02-2097-4024-9A32-17EBB8F14992}"/>
              </a:ext>
            </a:extLst>
          </p:cNvPr>
          <p:cNvSpPr>
            <a:spLocks noGrp="1"/>
          </p:cNvSpPr>
          <p:nvPr/>
        </p:nvSpPr>
        <p:spPr>
          <a:xfrm>
            <a:off x="1009650" y="6819900"/>
            <a:ext cx="77152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模型已经学习正常运行模式，因此原始序列和重构序列差异较小，重构误差低于阈值。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101C6AF-E709-493F-919E-92BFE16E7E89}"/>
              </a:ext>
            </a:extLst>
          </p:cNvPr>
          <p:cNvSpPr>
            <a:spLocks noGrp="1"/>
          </p:cNvSpPr>
          <p:nvPr/>
        </p:nvSpPr>
        <p:spPr>
          <a:xfrm>
            <a:off x="9286875" y="5430202"/>
            <a:ext cx="8277225" cy="2857500"/>
          </a:xfrm>
          <a:prstGeom prst="roundRect">
            <a:avLst>
              <a:gd name="adj" fmla="val 1333"/>
            </a:avLst>
          </a:prstGeom>
          <a:solidFill>
            <a:srgbClr val="FFFF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A13D02-F199-4793-8BC7-09DE635E9B0B}"/>
              </a:ext>
            </a:extLst>
          </p:cNvPr>
          <p:cNvSpPr>
            <a:spLocks noGrp="1"/>
          </p:cNvSpPr>
          <p:nvPr/>
        </p:nvSpPr>
        <p:spPr>
          <a:xfrm>
            <a:off x="9582150" y="6324600"/>
            <a:ext cx="7715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D94C4C"/>
                </a:solidFill>
              </a:defRPr>
            </a:pPr>
            <a:r>
              <a:rPr sz="2400" b="1">
                <a:solidFill>
                  <a:srgbClr val="D94C4C"/>
                </a:solidFill>
              </a:rPr>
              <a:t>异常窗口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0EC246-4EA5-4338-BA4D-2597D24D180D}"/>
              </a:ext>
            </a:extLst>
          </p:cNvPr>
          <p:cNvSpPr>
            <a:spLocks noGrp="1"/>
          </p:cNvSpPr>
          <p:nvPr/>
        </p:nvSpPr>
        <p:spPr>
          <a:xfrm>
            <a:off x="9582150" y="6819900"/>
            <a:ext cx="77152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异常数据偏离正常时序规律，模型难以准确重构，重构误差升高并触发告警。</a:t>
            </a:r>
          </a:p>
        </p:txBody>
      </p:sp>
    </p:spTree>
    <p:extLst>
      <p:ext uri="{BB962C8B-B14F-4D97-AF65-F5344CB8AC3E}">
        <p14:creationId xmlns:p14="http://schemas.microsoft.com/office/powerpoint/2010/main" val="152268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-bg">
            <a:extLst>
              <a:ext uri="{FF2B5EF4-FFF2-40B4-BE49-F238E27FC236}">
                <a16:creationId xmlns:a16="http://schemas.microsoft.com/office/drawing/2014/main" id="{E5FB7594-3D5E-4A5B-ADFB-5EFB65975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2FCFFDC-FCEA-4EBC-8239-CC7BB0A196A6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模型训练与超参数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C0056D8-C275-4945-9858-274EAAACA3DC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640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训练重点不是分类异常类型，而是充分学习正常数据的重构规律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9F46FA4-2637-414E-8C44-40A6CF98C60C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7F2A20-9FFB-468A-ABFA-87EE7F0DEA1A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3429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383943-6003-4ED9-9982-D7C0D0C585F4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3200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参数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6B6E9E-DE0B-4783-8B08-83D58AF576CE}"/>
              </a:ext>
            </a:extLst>
          </p:cNvPr>
          <p:cNvSpPr>
            <a:spLocks noGrp="1"/>
          </p:cNvSpPr>
          <p:nvPr/>
        </p:nvSpPr>
        <p:spPr>
          <a:xfrm>
            <a:off x="4152900" y="1861185"/>
            <a:ext cx="4416266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865537-4EAF-4066-98A3-2396CC41BCB0}"/>
              </a:ext>
            </a:extLst>
          </p:cNvPr>
          <p:cNvSpPr>
            <a:spLocks noGrp="1"/>
          </p:cNvSpPr>
          <p:nvPr/>
        </p:nvSpPr>
        <p:spPr>
          <a:xfrm>
            <a:off x="4267200" y="1962150"/>
            <a:ext cx="4191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取值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92EA7B-EA3D-41EE-BC6D-9A12AD2A5C02}"/>
              </a:ext>
            </a:extLst>
          </p:cNvPr>
          <p:cNvSpPr>
            <a:spLocks noGrp="1"/>
          </p:cNvSpPr>
          <p:nvPr/>
        </p:nvSpPr>
        <p:spPr>
          <a:xfrm>
            <a:off x="723900" y="2337435"/>
            <a:ext cx="3429000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5475C6-8CA7-4263-9E8F-5852AF73D99F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Window Size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5DD543-E2C4-4854-904F-8272E6872773}"/>
              </a:ext>
            </a:extLst>
          </p:cNvPr>
          <p:cNvSpPr>
            <a:spLocks noGrp="1"/>
          </p:cNvSpPr>
          <p:nvPr/>
        </p:nvSpPr>
        <p:spPr>
          <a:xfrm>
            <a:off x="4152900" y="2337435"/>
            <a:ext cx="4416266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7491BE-3DE7-43CD-95D5-46BC37BE2117}"/>
              </a:ext>
            </a:extLst>
          </p:cNvPr>
          <p:cNvSpPr>
            <a:spLocks noGrp="1"/>
          </p:cNvSpPr>
          <p:nvPr/>
        </p:nvSpPr>
        <p:spPr>
          <a:xfrm>
            <a:off x="4267200" y="24193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53E926-486C-4F03-9855-A22B84AB3889}"/>
              </a:ext>
            </a:extLst>
          </p:cNvPr>
          <p:cNvSpPr>
            <a:spLocks noGrp="1"/>
          </p:cNvSpPr>
          <p:nvPr/>
        </p:nvSpPr>
        <p:spPr>
          <a:xfrm>
            <a:off x="723900" y="2870835"/>
            <a:ext cx="3429000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039A81-5D84-45B4-8F74-A8E0229CC45A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Feature Size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DB1C61-3881-48F3-AAC7-1AC3363D1219}"/>
              </a:ext>
            </a:extLst>
          </p:cNvPr>
          <p:cNvSpPr>
            <a:spLocks noGrp="1"/>
          </p:cNvSpPr>
          <p:nvPr/>
        </p:nvSpPr>
        <p:spPr>
          <a:xfrm>
            <a:off x="4152900" y="2870835"/>
            <a:ext cx="4416266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6208BC-5CE2-4B3E-AD6F-75C2B93ACB8B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7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94D115-BAC5-486E-BFE2-610B0696DBF9}"/>
              </a:ext>
            </a:extLst>
          </p:cNvPr>
          <p:cNvSpPr>
            <a:spLocks noGrp="1"/>
          </p:cNvSpPr>
          <p:nvPr/>
        </p:nvSpPr>
        <p:spPr>
          <a:xfrm>
            <a:off x="723900" y="3404235"/>
            <a:ext cx="3429000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A5E780-B7BD-45F0-B16A-B993D8B67646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Hidden Size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DE7234-74FF-4994-AAF9-2F039F5295D5}"/>
              </a:ext>
            </a:extLst>
          </p:cNvPr>
          <p:cNvSpPr>
            <a:spLocks noGrp="1"/>
          </p:cNvSpPr>
          <p:nvPr/>
        </p:nvSpPr>
        <p:spPr>
          <a:xfrm>
            <a:off x="4152900" y="3404235"/>
            <a:ext cx="4416266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462EA7-88F2-4880-B28D-E1F8E9C463E3}"/>
              </a:ext>
            </a:extLst>
          </p:cNvPr>
          <p:cNvSpPr>
            <a:spLocks noGrp="1"/>
          </p:cNvSpPr>
          <p:nvPr/>
        </p:nvSpPr>
        <p:spPr>
          <a:xfrm>
            <a:off x="4267200" y="34861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32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A559AF-0D68-4E83-82B7-124C754A826A}"/>
              </a:ext>
            </a:extLst>
          </p:cNvPr>
          <p:cNvSpPr>
            <a:spLocks noGrp="1"/>
          </p:cNvSpPr>
          <p:nvPr/>
        </p:nvSpPr>
        <p:spPr>
          <a:xfrm>
            <a:off x="723900" y="3937635"/>
            <a:ext cx="3429000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15B7D6-8D65-426C-828C-8F47DFB141D5}"/>
              </a:ext>
            </a:extLst>
          </p:cNvPr>
          <p:cNvSpPr>
            <a:spLocks noGrp="1"/>
          </p:cNvSpPr>
          <p:nvPr/>
        </p:nvSpPr>
        <p:spPr>
          <a:xfrm>
            <a:off x="838200" y="40195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Num Layers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1EC476-69A7-4308-8573-4E4A12761FFF}"/>
              </a:ext>
            </a:extLst>
          </p:cNvPr>
          <p:cNvSpPr>
            <a:spLocks noGrp="1"/>
          </p:cNvSpPr>
          <p:nvPr/>
        </p:nvSpPr>
        <p:spPr>
          <a:xfrm>
            <a:off x="4152900" y="3937635"/>
            <a:ext cx="4416266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DF3CD4-042E-4EFA-A6A0-A098A3248F32}"/>
              </a:ext>
            </a:extLst>
          </p:cNvPr>
          <p:cNvSpPr>
            <a:spLocks noGrp="1"/>
          </p:cNvSpPr>
          <p:nvPr/>
        </p:nvSpPr>
        <p:spPr>
          <a:xfrm>
            <a:off x="4267200" y="40195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0CA03F-62BB-4B80-87C1-9B87AEB24128}"/>
              </a:ext>
            </a:extLst>
          </p:cNvPr>
          <p:cNvSpPr>
            <a:spLocks noGrp="1"/>
          </p:cNvSpPr>
          <p:nvPr/>
        </p:nvSpPr>
        <p:spPr>
          <a:xfrm>
            <a:off x="723900" y="4471035"/>
            <a:ext cx="3429000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27CC6D-922A-4919-975A-F1F55475B353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Learning Rate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9DC2EF-944B-4770-ABBA-49A3664B13EE}"/>
              </a:ext>
            </a:extLst>
          </p:cNvPr>
          <p:cNvSpPr>
            <a:spLocks noGrp="1"/>
          </p:cNvSpPr>
          <p:nvPr/>
        </p:nvSpPr>
        <p:spPr>
          <a:xfrm>
            <a:off x="4152900" y="4471035"/>
            <a:ext cx="4416266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60B36D-49C8-4A84-8161-57AC3C792C92}"/>
              </a:ext>
            </a:extLst>
          </p:cNvPr>
          <p:cNvSpPr>
            <a:spLocks noGrp="1"/>
          </p:cNvSpPr>
          <p:nvPr/>
        </p:nvSpPr>
        <p:spPr>
          <a:xfrm>
            <a:off x="4267200" y="45529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0.001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074301-65E2-4C75-8E8D-6516F6391122}"/>
              </a:ext>
            </a:extLst>
          </p:cNvPr>
          <p:cNvSpPr>
            <a:spLocks noGrp="1"/>
          </p:cNvSpPr>
          <p:nvPr/>
        </p:nvSpPr>
        <p:spPr>
          <a:xfrm>
            <a:off x="723900" y="5004435"/>
            <a:ext cx="3429000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EDF4A7-3C52-496A-AEEB-6D2FAA7549DF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Batch Size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6FBD6F-D98A-437C-8A4D-3490F1878E64}"/>
              </a:ext>
            </a:extLst>
          </p:cNvPr>
          <p:cNvSpPr>
            <a:spLocks noGrp="1"/>
          </p:cNvSpPr>
          <p:nvPr/>
        </p:nvSpPr>
        <p:spPr>
          <a:xfrm>
            <a:off x="4152900" y="5004435"/>
            <a:ext cx="4416266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B7BBF05-EFAD-43F3-B6F4-ADFD1FFFEBFC}"/>
              </a:ext>
            </a:extLst>
          </p:cNvPr>
          <p:cNvSpPr>
            <a:spLocks noGrp="1"/>
          </p:cNvSpPr>
          <p:nvPr/>
        </p:nvSpPr>
        <p:spPr>
          <a:xfrm>
            <a:off x="4267200" y="50863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32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3D6629-ABED-4E73-AD2F-EB39FF4777A9}"/>
              </a:ext>
            </a:extLst>
          </p:cNvPr>
          <p:cNvSpPr>
            <a:spLocks noGrp="1"/>
          </p:cNvSpPr>
          <p:nvPr/>
        </p:nvSpPr>
        <p:spPr>
          <a:xfrm>
            <a:off x="723900" y="5537835"/>
            <a:ext cx="3429000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D1BF6E-AE2B-43CF-BF41-2CC19FCB6E0E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Epochs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DF1409-F693-47C3-9A3A-F4F122EEAA4C}"/>
              </a:ext>
            </a:extLst>
          </p:cNvPr>
          <p:cNvSpPr>
            <a:spLocks noGrp="1"/>
          </p:cNvSpPr>
          <p:nvPr/>
        </p:nvSpPr>
        <p:spPr>
          <a:xfrm>
            <a:off x="4152900" y="5537835"/>
            <a:ext cx="4416266" cy="514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3965EC-202C-4808-9E6C-4B1940EC42B4}"/>
              </a:ext>
            </a:extLst>
          </p:cNvPr>
          <p:cNvSpPr>
            <a:spLocks noGrp="1"/>
          </p:cNvSpPr>
          <p:nvPr/>
        </p:nvSpPr>
        <p:spPr>
          <a:xfrm>
            <a:off x="4267200" y="56197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20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2C6831-2E56-4281-9AB7-7A4B996A0925}"/>
              </a:ext>
            </a:extLst>
          </p:cNvPr>
          <p:cNvSpPr>
            <a:spLocks noGrp="1"/>
          </p:cNvSpPr>
          <p:nvPr/>
        </p:nvSpPr>
        <p:spPr>
          <a:xfrm>
            <a:off x="723900" y="6071235"/>
            <a:ext cx="3429000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880EE5B-8588-489B-BC91-50F5E9E43240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Train Split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1066E5-A10B-4AEA-990F-FD0E730ED7AA}"/>
              </a:ext>
            </a:extLst>
          </p:cNvPr>
          <p:cNvSpPr>
            <a:spLocks noGrp="1"/>
          </p:cNvSpPr>
          <p:nvPr/>
        </p:nvSpPr>
        <p:spPr>
          <a:xfrm>
            <a:off x="4152900" y="6071235"/>
            <a:ext cx="4416266" cy="5143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E25AF5F-B94D-477E-AF40-9624C0E6C53D}"/>
              </a:ext>
            </a:extLst>
          </p:cNvPr>
          <p:cNvSpPr>
            <a:spLocks noGrp="1"/>
          </p:cNvSpPr>
          <p:nvPr/>
        </p:nvSpPr>
        <p:spPr>
          <a:xfrm>
            <a:off x="4267200" y="6153150"/>
            <a:ext cx="419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0.8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406C9AF-D6FB-4594-8956-7309DCC155D6}"/>
              </a:ext>
            </a:extLst>
          </p:cNvPr>
          <p:cNvSpPr>
            <a:spLocks noGrp="1"/>
          </p:cNvSpPr>
          <p:nvPr/>
        </p:nvSpPr>
        <p:spPr>
          <a:xfrm>
            <a:off x="8893016" y="3833813"/>
            <a:ext cx="8671084" cy="2438400"/>
          </a:xfrm>
          <a:prstGeom prst="roundRect">
            <a:avLst>
              <a:gd name="adj" fmla="val 1563"/>
            </a:avLst>
          </a:prstGeom>
          <a:solidFill>
            <a:srgbClr val="FFFFFF"/>
          </a:solidFill>
        </p:spPr>
      </p:sp>
      <p:sp>
        <p:nvSpPr>
          <p:cNvPr id="42" name="bullet-0">
            <a:extLst>
              <a:ext uri="{FF2B5EF4-FFF2-40B4-BE49-F238E27FC236}">
                <a16:creationId xmlns:a16="http://schemas.microsoft.com/office/drawing/2014/main" id="{4DACDF4B-FFA5-456E-A7A3-04BC0D7F375E}"/>
              </a:ext>
            </a:extLst>
          </p:cNvPr>
          <p:cNvSpPr>
            <a:spLocks noGrp="1"/>
          </p:cNvSpPr>
          <p:nvPr/>
        </p:nvSpPr>
        <p:spPr>
          <a:xfrm>
            <a:off x="9163050" y="4095750"/>
            <a:ext cx="8134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损失函数：MSE 均方误差</a:t>
            </a:r>
          </a:p>
        </p:txBody>
      </p:sp>
      <p:sp>
        <p:nvSpPr>
          <p:cNvPr id="43" name="bullet-1">
            <a:extLst>
              <a:ext uri="{FF2B5EF4-FFF2-40B4-BE49-F238E27FC236}">
                <a16:creationId xmlns:a16="http://schemas.microsoft.com/office/drawing/2014/main" id="{883C460D-FCC3-4B2C-B1AC-EFAFE441E728}"/>
              </a:ext>
            </a:extLst>
          </p:cNvPr>
          <p:cNvSpPr>
            <a:spLocks noGrp="1"/>
          </p:cNvSpPr>
          <p:nvPr/>
        </p:nvSpPr>
        <p:spPr>
          <a:xfrm>
            <a:off x="9163050" y="4514850"/>
            <a:ext cx="8134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优化器：Adam，学习率 0.001</a:t>
            </a:r>
          </a:p>
        </p:txBody>
      </p:sp>
      <p:sp>
        <p:nvSpPr>
          <p:cNvPr id="44" name="bullet-2">
            <a:extLst>
              <a:ext uri="{FF2B5EF4-FFF2-40B4-BE49-F238E27FC236}">
                <a16:creationId xmlns:a16="http://schemas.microsoft.com/office/drawing/2014/main" id="{BBF99368-C381-4209-AB60-10AD944DDC35}"/>
              </a:ext>
            </a:extLst>
          </p:cNvPr>
          <p:cNvSpPr>
            <a:spLocks noGrp="1"/>
          </p:cNvSpPr>
          <p:nvPr/>
        </p:nvSpPr>
        <p:spPr>
          <a:xfrm>
            <a:off x="9163050" y="4914900"/>
            <a:ext cx="8134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主要使用正常窗口训练模型</a:t>
            </a:r>
          </a:p>
        </p:txBody>
      </p:sp>
      <p:sp>
        <p:nvSpPr>
          <p:cNvPr id="45" name="bullet-3">
            <a:extLst>
              <a:ext uri="{FF2B5EF4-FFF2-40B4-BE49-F238E27FC236}">
                <a16:creationId xmlns:a16="http://schemas.microsoft.com/office/drawing/2014/main" id="{D98E5732-A305-4FC9-9309-053F96797516}"/>
              </a:ext>
            </a:extLst>
          </p:cNvPr>
          <p:cNvSpPr>
            <a:spLocks noGrp="1"/>
          </p:cNvSpPr>
          <p:nvPr/>
        </p:nvSpPr>
        <p:spPr>
          <a:xfrm>
            <a:off x="9163050" y="5314950"/>
            <a:ext cx="8134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异常窗口用于效果评估和阈值验证</a:t>
            </a:r>
          </a:p>
        </p:txBody>
      </p:sp>
      <p:sp>
        <p:nvSpPr>
          <p:cNvPr id="46" name="bullet-4">
            <a:extLst>
              <a:ext uri="{FF2B5EF4-FFF2-40B4-BE49-F238E27FC236}">
                <a16:creationId xmlns:a16="http://schemas.microsoft.com/office/drawing/2014/main" id="{2D4F7D09-A0B6-497F-A8B4-0E009F3A7599}"/>
              </a:ext>
            </a:extLst>
          </p:cNvPr>
          <p:cNvSpPr>
            <a:spLocks noGrp="1"/>
          </p:cNvSpPr>
          <p:nvPr/>
        </p:nvSpPr>
        <p:spPr>
          <a:xfrm>
            <a:off x="9163050" y="5734050"/>
            <a:ext cx="8134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模型文件、标准化器和阈值写入模型元数据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0C3E6EC-BFC1-4794-8D8E-469FF0800587}"/>
              </a:ext>
            </a:extLst>
          </p:cNvPr>
          <p:cNvSpPr>
            <a:spLocks noGrp="1"/>
          </p:cNvSpPr>
          <p:nvPr/>
        </p:nvSpPr>
        <p:spPr>
          <a:xfrm>
            <a:off x="8893016" y="6500813"/>
            <a:ext cx="8671084" cy="1280160"/>
          </a:xfrm>
          <a:prstGeom prst="roundRect">
            <a:avLst>
              <a:gd name="adj" fmla="val 2976"/>
            </a:avLst>
          </a:prstGeom>
          <a:solidFill>
            <a:srgbClr val="EAF6F4"/>
          </a:solidFill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E59D45-A5F6-4B0D-9B5F-B76F2E259EFC}"/>
              </a:ext>
            </a:extLst>
          </p:cNvPr>
          <p:cNvSpPr>
            <a:spLocks noGrp="1"/>
          </p:cNvSpPr>
          <p:nvPr/>
        </p:nvSpPr>
        <p:spPr>
          <a:xfrm>
            <a:off x="9124950" y="6724650"/>
            <a:ext cx="82105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E9488"/>
                </a:solidFill>
              </a:defRPr>
            </a:pPr>
            <a:r>
              <a:rPr sz="1800" b="1">
                <a:solidFill>
                  <a:srgbClr val="0E9488"/>
                </a:solidFill>
              </a:rPr>
              <a:t>隐藏层维度 32 在表达能力和压缩约束之间折中，避免模型过度记忆输入，从而保留异常检测所需的重构差异。</a:t>
            </a:r>
          </a:p>
        </p:txBody>
      </p:sp>
    </p:spTree>
    <p:extLst>
      <p:ext uri="{BB962C8B-B14F-4D97-AF65-F5344CB8AC3E}">
        <p14:creationId xmlns:p14="http://schemas.microsoft.com/office/powerpoint/2010/main" val="172705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bg">
            <a:extLst>
              <a:ext uri="{FF2B5EF4-FFF2-40B4-BE49-F238E27FC236}">
                <a16:creationId xmlns:a16="http://schemas.microsoft.com/office/drawing/2014/main" id="{0C419E0A-B808-40A1-84CD-0C75A8EFA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1F1286-FB73-4C64-8ED0-A6CD39AFC4A1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异常判定逻辑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0781E7-BA22-4F87-B816-96C0C376C83A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25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异常得分来自重构误差，最终告警结合业务规则复核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AAD65187-366C-4246-8853-92A2F8693B93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8B1CDBB-5E35-47F8-AFD7-0C6F3151DB05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8258175" cy="6859905"/>
          </a:xfrm>
          <a:prstGeom prst="roundRect">
            <a:avLst>
              <a:gd name="adj" fmla="val 555"/>
            </a:avLst>
          </a:prstGeom>
          <a:solidFill>
            <a:srgbClr val="FFFFFF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8F90A8-6D5D-4A9F-9666-2C28A32F5112}"/>
              </a:ext>
            </a:extLst>
          </p:cNvPr>
          <p:cNvSpPr>
            <a:spLocks noGrp="1"/>
          </p:cNvSpPr>
          <p:nvPr/>
        </p:nvSpPr>
        <p:spPr>
          <a:xfrm>
            <a:off x="1047750" y="4210050"/>
            <a:ext cx="7620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667B7"/>
                </a:solidFill>
              </a:defRPr>
            </a:pPr>
            <a:r>
              <a:rPr sz="2550" b="1">
                <a:solidFill>
                  <a:srgbClr val="1667B7"/>
                </a:solidFill>
              </a:rPr>
              <a:t>深度学习判定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54BAB5-4741-4D9B-B3D4-EC1C1419EE23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7620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Anomaly Score = MSE(输入序列, 重构序列)</a:t>
            </a:r>
          </a:p>
        </p:txBody>
      </p:sp>
      <p:sp>
        <p:nvSpPr>
          <p:cNvPr id="8" name="bullet-0">
            <a:extLst>
              <a:ext uri="{FF2B5EF4-FFF2-40B4-BE49-F238E27FC236}">
                <a16:creationId xmlns:a16="http://schemas.microsoft.com/office/drawing/2014/main" id="{C348EA7A-5376-433F-A287-53693CF0230E}"/>
              </a:ext>
            </a:extLst>
          </p:cNvPr>
          <p:cNvSpPr>
            <a:spLocks noGrp="1"/>
          </p:cNvSpPr>
          <p:nvPr/>
        </p:nvSpPr>
        <p:spPr>
          <a:xfrm>
            <a:off x="1047750" y="531495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得分越高，偏离正常模式越明显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0906F5BA-B033-4D8D-B25E-07F26FA7D3C9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阈值来自验证集正常样本误差分布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4B012C6E-7A80-4E71-8966-93FDD70ECC38}"/>
              </a:ext>
            </a:extLst>
          </p:cNvPr>
          <p:cNvSpPr>
            <a:spLocks noGrp="1"/>
          </p:cNvSpPr>
          <p:nvPr/>
        </p:nvSpPr>
        <p:spPr>
          <a:xfrm>
            <a:off x="1047750" y="611505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超过阈值后初步判定为异常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3128F51-E7C7-4371-AD5D-A7D0C500076D}"/>
              </a:ext>
            </a:extLst>
          </p:cNvPr>
          <p:cNvSpPr>
            <a:spLocks noGrp="1"/>
          </p:cNvSpPr>
          <p:nvPr/>
        </p:nvSpPr>
        <p:spPr>
          <a:xfrm>
            <a:off x="9305925" y="1861185"/>
            <a:ext cx="8258175" cy="6859905"/>
          </a:xfrm>
          <a:prstGeom prst="roundRect">
            <a:avLst>
              <a:gd name="adj" fmla="val 555"/>
            </a:avLst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CB1EA2-4241-4033-B0F2-72BBC70FE6F5}"/>
              </a:ext>
            </a:extLst>
          </p:cNvPr>
          <p:cNvSpPr>
            <a:spLocks noGrp="1"/>
          </p:cNvSpPr>
          <p:nvPr/>
        </p:nvSpPr>
        <p:spPr>
          <a:xfrm>
            <a:off x="9639300" y="4076700"/>
            <a:ext cx="7620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9488"/>
                </a:solidFill>
              </a:defRPr>
            </a:pPr>
            <a:r>
              <a:rPr sz="2550" b="1">
                <a:solidFill>
                  <a:srgbClr val="0E9488"/>
                </a:solidFill>
              </a:rPr>
              <a:t>业务规则复核</a:t>
            </a:r>
          </a:p>
        </p:txBody>
      </p:sp>
      <p:sp>
        <p:nvSpPr>
          <p:cNvPr id="13" name="bullet-0">
            <a:extLst>
              <a:ext uri="{FF2B5EF4-FFF2-40B4-BE49-F238E27FC236}">
                <a16:creationId xmlns:a16="http://schemas.microsoft.com/office/drawing/2014/main" id="{9D1760D7-DF2F-4CDC-8CA8-77BF2F198C2D}"/>
              </a:ext>
            </a:extLst>
          </p:cNvPr>
          <p:cNvSpPr>
            <a:spLocks noGrp="1"/>
          </p:cNvSpPr>
          <p:nvPr/>
        </p:nvSpPr>
        <p:spPr>
          <a:xfrm>
            <a:off x="9639300" y="464820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电池电压低于安全范围</a:t>
            </a:r>
          </a:p>
        </p:txBody>
      </p:sp>
      <p:sp>
        <p:nvSpPr>
          <p:cNvPr id="14" name="bullet-1">
            <a:extLst>
              <a:ext uri="{FF2B5EF4-FFF2-40B4-BE49-F238E27FC236}">
                <a16:creationId xmlns:a16="http://schemas.microsoft.com/office/drawing/2014/main" id="{51CCC2BE-7A37-4CFB-95FC-F5952FB30312}"/>
              </a:ext>
            </a:extLst>
          </p:cNvPr>
          <p:cNvSpPr>
            <a:spLocks noGrp="1"/>
          </p:cNvSpPr>
          <p:nvPr/>
        </p:nvSpPr>
        <p:spPr>
          <a:xfrm>
            <a:off x="9639300" y="504825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信号强度持续偏低</a:t>
            </a:r>
          </a:p>
        </p:txBody>
      </p:sp>
      <p:sp>
        <p:nvSpPr>
          <p:cNvPr id="15" name="bullet-2">
            <a:extLst>
              <a:ext uri="{FF2B5EF4-FFF2-40B4-BE49-F238E27FC236}">
                <a16:creationId xmlns:a16="http://schemas.microsoft.com/office/drawing/2014/main" id="{BD16EC53-B750-4744-B39E-04F3DFD1E32F}"/>
              </a:ext>
            </a:extLst>
          </p:cNvPr>
          <p:cNvSpPr>
            <a:spLocks noGrp="1"/>
          </p:cNvSpPr>
          <p:nvPr/>
        </p:nvSpPr>
        <p:spPr>
          <a:xfrm>
            <a:off x="9639300" y="544830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管网压力超出正常范围</a:t>
            </a:r>
          </a:p>
        </p:txBody>
      </p:sp>
      <p:sp>
        <p:nvSpPr>
          <p:cNvPr id="16" name="bullet-3">
            <a:extLst>
              <a:ext uri="{FF2B5EF4-FFF2-40B4-BE49-F238E27FC236}">
                <a16:creationId xmlns:a16="http://schemas.microsoft.com/office/drawing/2014/main" id="{2120150C-B76E-4D32-A73D-249CF01D747C}"/>
              </a:ext>
            </a:extLst>
          </p:cNvPr>
          <p:cNvSpPr>
            <a:spLocks noGrp="1"/>
          </p:cNvSpPr>
          <p:nvPr/>
        </p:nvSpPr>
        <p:spPr>
          <a:xfrm>
            <a:off x="9639300" y="584835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瞬时流量相较近期均值突增或突降</a:t>
            </a:r>
          </a:p>
        </p:txBody>
      </p:sp>
      <p:sp>
        <p:nvSpPr>
          <p:cNvPr id="17" name="bullet-4">
            <a:extLst>
              <a:ext uri="{FF2B5EF4-FFF2-40B4-BE49-F238E27FC236}">
                <a16:creationId xmlns:a16="http://schemas.microsoft.com/office/drawing/2014/main" id="{14E11480-603F-4FE2-825D-294228B47096}"/>
              </a:ext>
            </a:extLst>
          </p:cNvPr>
          <p:cNvSpPr>
            <a:spLocks noGrp="1"/>
          </p:cNvSpPr>
          <p:nvPr/>
        </p:nvSpPr>
        <p:spPr>
          <a:xfrm>
            <a:off x="9639300" y="6248400"/>
            <a:ext cx="762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重构误差高但单一规则不明显时标记综合异常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E0F94AE-FB57-4198-877C-121F29111640}"/>
              </a:ext>
            </a:extLst>
          </p:cNvPr>
          <p:cNvSpPr>
            <a:spLocks noGrp="1"/>
          </p:cNvSpPr>
          <p:nvPr/>
        </p:nvSpPr>
        <p:spPr>
          <a:xfrm>
            <a:off x="723900" y="8949690"/>
            <a:ext cx="16840200" cy="803910"/>
          </a:xfrm>
          <a:prstGeom prst="roundRect">
            <a:avLst>
              <a:gd name="adj" fmla="val 4739"/>
            </a:avLst>
          </a:prstGeom>
          <a:solidFill>
            <a:srgbClr val="FFF4E3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69B215-C53F-44C2-949C-4CE649C84562}"/>
              </a:ext>
            </a:extLst>
          </p:cNvPr>
          <p:cNvSpPr>
            <a:spLocks noGrp="1"/>
          </p:cNvSpPr>
          <p:nvPr/>
        </p:nvSpPr>
        <p:spPr>
          <a:xfrm>
            <a:off x="971550" y="9201150"/>
            <a:ext cx="163449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98610D"/>
                </a:solidFill>
              </a:defRPr>
            </a:pPr>
            <a:r>
              <a:rPr sz="2025" b="1">
                <a:solidFill>
                  <a:srgbClr val="98610D"/>
                </a:solidFill>
              </a:rPr>
              <a:t>设计要点：LSTM AutoEncoder 负责发现复杂时序偏离，业务规则负责增强可解释性和落地可处理性。</a:t>
            </a:r>
          </a:p>
        </p:txBody>
      </p:sp>
    </p:spTree>
    <p:extLst>
      <p:ext uri="{BB962C8B-B14F-4D97-AF65-F5344CB8AC3E}">
        <p14:creationId xmlns:p14="http://schemas.microsoft.com/office/powerpoint/2010/main" val="602539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-bg">
            <a:extLst>
              <a:ext uri="{FF2B5EF4-FFF2-40B4-BE49-F238E27FC236}">
                <a16:creationId xmlns:a16="http://schemas.microsoft.com/office/drawing/2014/main" id="{B4B1A19D-E9D9-4364-BB07-74BA66600E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A398C3B-C315-4ED9-A8D8-7344BDAA37CD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系统实现与关键技术栈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1D70B8E-99C6-4FFD-9E85-70C1CF77ABFB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181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围绕 Python 深度学习推理和 Web 业务系统完成集成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45D415D-543D-429B-BE5B-01FB3C4A8E1F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110C71-381E-4BC5-B13C-AF945D518CDE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3429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D373DE-BC45-4569-9ECD-84D30B1BD152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2D7675-65D8-48E5-969A-E2EA15059F54}"/>
              </a:ext>
            </a:extLst>
          </p:cNvPr>
          <p:cNvSpPr>
            <a:spLocks noGrp="1"/>
          </p:cNvSpPr>
          <p:nvPr/>
        </p:nvSpPr>
        <p:spPr>
          <a:xfrm>
            <a:off x="4152900" y="1861185"/>
            <a:ext cx="5242084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365924-38EE-4007-8C8F-64A0D68B8365}"/>
              </a:ext>
            </a:extLst>
          </p:cNvPr>
          <p:cNvSpPr>
            <a:spLocks noGrp="1"/>
          </p:cNvSpPr>
          <p:nvPr/>
        </p:nvSpPr>
        <p:spPr>
          <a:xfrm>
            <a:off x="4267200" y="1962150"/>
            <a:ext cx="50101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6B63C8-648F-43FB-BDE2-78928893C155}"/>
              </a:ext>
            </a:extLst>
          </p:cNvPr>
          <p:cNvSpPr>
            <a:spLocks noGrp="1"/>
          </p:cNvSpPr>
          <p:nvPr/>
        </p:nvSpPr>
        <p:spPr>
          <a:xfrm>
            <a:off x="723900" y="2337435"/>
            <a:ext cx="3429000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94656-EC47-496C-9465-9D0451745DE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后端框架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5502BD-44FE-4184-A86E-8FF328CA0A8D}"/>
              </a:ext>
            </a:extLst>
          </p:cNvPr>
          <p:cNvSpPr>
            <a:spLocks noGrp="1"/>
          </p:cNvSpPr>
          <p:nvPr/>
        </p:nvSpPr>
        <p:spPr>
          <a:xfrm>
            <a:off x="4152900" y="2337435"/>
            <a:ext cx="5242084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CBE618-8EC7-47D5-AE50-DD0F6E0FAD86}"/>
              </a:ext>
            </a:extLst>
          </p:cNvPr>
          <p:cNvSpPr>
            <a:spLocks noGrp="1"/>
          </p:cNvSpPr>
          <p:nvPr/>
        </p:nvSpPr>
        <p:spPr>
          <a:xfrm>
            <a:off x="4267200" y="241935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Flask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C3EA3A-6930-4246-930A-FC30DEDFADE8}"/>
              </a:ext>
            </a:extLst>
          </p:cNvPr>
          <p:cNvSpPr>
            <a:spLocks noGrp="1"/>
          </p:cNvSpPr>
          <p:nvPr/>
        </p:nvSpPr>
        <p:spPr>
          <a:xfrm>
            <a:off x="723900" y="2823210"/>
            <a:ext cx="3429000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C6F802-AEB7-4AF6-8405-966BE27AD731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ORM 工具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9F7113-B2B6-4908-8D35-67B0D0136B58}"/>
              </a:ext>
            </a:extLst>
          </p:cNvPr>
          <p:cNvSpPr>
            <a:spLocks noGrp="1"/>
          </p:cNvSpPr>
          <p:nvPr/>
        </p:nvSpPr>
        <p:spPr>
          <a:xfrm>
            <a:off x="4152900" y="2823210"/>
            <a:ext cx="5242084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0ABC6B-BEFB-4253-B793-D8BC57018CAA}"/>
              </a:ext>
            </a:extLst>
          </p:cNvPr>
          <p:cNvSpPr>
            <a:spLocks noGrp="1"/>
          </p:cNvSpPr>
          <p:nvPr/>
        </p:nvSpPr>
        <p:spPr>
          <a:xfrm>
            <a:off x="4267200" y="289560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Flask-SQLAlchemy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B6FA18-EEC2-4E32-9539-AD59A2379299}"/>
              </a:ext>
            </a:extLst>
          </p:cNvPr>
          <p:cNvSpPr>
            <a:spLocks noGrp="1"/>
          </p:cNvSpPr>
          <p:nvPr/>
        </p:nvSpPr>
        <p:spPr>
          <a:xfrm>
            <a:off x="723900" y="3308985"/>
            <a:ext cx="3429000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DFF816-D6A1-4954-AB8A-6EF3644A05E3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数据库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E6073E-4632-4D24-9109-DAB9F020CBA3}"/>
              </a:ext>
            </a:extLst>
          </p:cNvPr>
          <p:cNvSpPr>
            <a:spLocks noGrp="1"/>
          </p:cNvSpPr>
          <p:nvPr/>
        </p:nvSpPr>
        <p:spPr>
          <a:xfrm>
            <a:off x="4152900" y="3308985"/>
            <a:ext cx="5242084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008CF8-B9C6-47CA-A20D-C950E789D4F4}"/>
              </a:ext>
            </a:extLst>
          </p:cNvPr>
          <p:cNvSpPr>
            <a:spLocks noGrp="1"/>
          </p:cNvSpPr>
          <p:nvPr/>
        </p:nvSpPr>
        <p:spPr>
          <a:xfrm>
            <a:off x="4267200" y="339090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MySQL / PyMySQL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DAE8B8-6850-40D4-9217-DDCBE1724E12}"/>
              </a:ext>
            </a:extLst>
          </p:cNvPr>
          <p:cNvSpPr>
            <a:spLocks noGrp="1"/>
          </p:cNvSpPr>
          <p:nvPr/>
        </p:nvSpPr>
        <p:spPr>
          <a:xfrm>
            <a:off x="723900" y="3794760"/>
            <a:ext cx="3429000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38C2F8-03B3-4D3F-85E3-80F84D5ADA18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深度学习框架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08F934-CF43-4B5B-B127-FC1795E6A16E}"/>
              </a:ext>
            </a:extLst>
          </p:cNvPr>
          <p:cNvSpPr>
            <a:spLocks noGrp="1"/>
          </p:cNvSpPr>
          <p:nvPr/>
        </p:nvSpPr>
        <p:spPr>
          <a:xfrm>
            <a:off x="4152900" y="3794760"/>
            <a:ext cx="5242084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0954A8-6FD5-4A9C-B36A-6AD91C820F8A}"/>
              </a:ext>
            </a:extLst>
          </p:cNvPr>
          <p:cNvSpPr>
            <a:spLocks noGrp="1"/>
          </p:cNvSpPr>
          <p:nvPr/>
        </p:nvSpPr>
        <p:spPr>
          <a:xfrm>
            <a:off x="4267200" y="386715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PyTorch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27E8E8-89E1-4B1F-BFD1-3D0BF565258C}"/>
              </a:ext>
            </a:extLst>
          </p:cNvPr>
          <p:cNvSpPr>
            <a:spLocks noGrp="1"/>
          </p:cNvSpPr>
          <p:nvPr/>
        </p:nvSpPr>
        <p:spPr>
          <a:xfrm>
            <a:off x="723900" y="4280535"/>
            <a:ext cx="3429000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34FBEBB-E254-499D-83E8-B7097B4645F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数据处理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2DBD1E-E365-484F-8906-DA8AD97808B5}"/>
              </a:ext>
            </a:extLst>
          </p:cNvPr>
          <p:cNvSpPr>
            <a:spLocks noGrp="1"/>
          </p:cNvSpPr>
          <p:nvPr/>
        </p:nvSpPr>
        <p:spPr>
          <a:xfrm>
            <a:off x="4152900" y="4280535"/>
            <a:ext cx="5242084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339C749-D733-4701-8B7B-42341BA84DB6}"/>
              </a:ext>
            </a:extLst>
          </p:cNvPr>
          <p:cNvSpPr>
            <a:spLocks noGrp="1"/>
          </p:cNvSpPr>
          <p:nvPr/>
        </p:nvSpPr>
        <p:spPr>
          <a:xfrm>
            <a:off x="4267200" y="436245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Pandas、NumPy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B13E4F-DF9B-44D9-9DC1-575532B29CF4}"/>
              </a:ext>
            </a:extLst>
          </p:cNvPr>
          <p:cNvSpPr>
            <a:spLocks noGrp="1"/>
          </p:cNvSpPr>
          <p:nvPr/>
        </p:nvSpPr>
        <p:spPr>
          <a:xfrm>
            <a:off x="723900" y="4766310"/>
            <a:ext cx="3429000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7EC137-C721-4866-9812-49D912B2976D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标准化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4F4F31-C72C-4C7F-BDF7-F7FA8F5DA12B}"/>
              </a:ext>
            </a:extLst>
          </p:cNvPr>
          <p:cNvSpPr>
            <a:spLocks noGrp="1"/>
          </p:cNvSpPr>
          <p:nvPr/>
        </p:nvSpPr>
        <p:spPr>
          <a:xfrm>
            <a:off x="4152900" y="4766310"/>
            <a:ext cx="5242084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BDB61F-F624-46F7-A404-BA1C946EEA70}"/>
              </a:ext>
            </a:extLst>
          </p:cNvPr>
          <p:cNvSpPr>
            <a:spLocks noGrp="1"/>
          </p:cNvSpPr>
          <p:nvPr/>
        </p:nvSpPr>
        <p:spPr>
          <a:xfrm>
            <a:off x="4267200" y="483870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Scikit-learn StandardScaler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3FBFCDB-24C9-4920-A303-8F30596EBCDD}"/>
              </a:ext>
            </a:extLst>
          </p:cNvPr>
          <p:cNvSpPr>
            <a:spLocks noGrp="1"/>
          </p:cNvSpPr>
          <p:nvPr/>
        </p:nvSpPr>
        <p:spPr>
          <a:xfrm>
            <a:off x="723900" y="5252085"/>
            <a:ext cx="3429000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DDD072-6D8C-4650-A1D2-49522441D0BE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模型管理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A0D63B-C437-4079-8020-C9AB92D3C67D}"/>
              </a:ext>
            </a:extLst>
          </p:cNvPr>
          <p:cNvSpPr>
            <a:spLocks noGrp="1"/>
          </p:cNvSpPr>
          <p:nvPr/>
        </p:nvSpPr>
        <p:spPr>
          <a:xfrm>
            <a:off x="4152900" y="5252085"/>
            <a:ext cx="5242084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00C34B5-3737-4A06-A690-0761857101E8}"/>
              </a:ext>
            </a:extLst>
          </p:cNvPr>
          <p:cNvSpPr>
            <a:spLocks noGrp="1"/>
          </p:cNvSpPr>
          <p:nvPr/>
        </p:nvSpPr>
        <p:spPr>
          <a:xfrm>
            <a:off x="4267200" y="533400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PyTorch、Joblib、JSON 元数据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FECAA0-DEB5-441D-8A81-C211D6B5AADB}"/>
              </a:ext>
            </a:extLst>
          </p:cNvPr>
          <p:cNvSpPr>
            <a:spLocks noGrp="1"/>
          </p:cNvSpPr>
          <p:nvPr/>
        </p:nvSpPr>
        <p:spPr>
          <a:xfrm>
            <a:off x="723900" y="5737860"/>
            <a:ext cx="3429000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8F0B008-E1A2-4D14-BBEF-6DBEF2D775AF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实时通信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A9BA3D-0B04-48F9-A8C6-447E51D65C2C}"/>
              </a:ext>
            </a:extLst>
          </p:cNvPr>
          <p:cNvSpPr>
            <a:spLocks noGrp="1"/>
          </p:cNvSpPr>
          <p:nvPr/>
        </p:nvSpPr>
        <p:spPr>
          <a:xfrm>
            <a:off x="4152900" y="5737860"/>
            <a:ext cx="5242084" cy="466725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B914F8-1A82-4E65-84A8-939EC2D310A3}"/>
              </a:ext>
            </a:extLst>
          </p:cNvPr>
          <p:cNvSpPr>
            <a:spLocks noGrp="1"/>
          </p:cNvSpPr>
          <p:nvPr/>
        </p:nvSpPr>
        <p:spPr>
          <a:xfrm>
            <a:off x="4267200" y="581025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Flask-Sock、WebSocket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6A3C051-E4C1-4AAE-B96A-63B974F7090C}"/>
              </a:ext>
            </a:extLst>
          </p:cNvPr>
          <p:cNvSpPr>
            <a:spLocks noGrp="1"/>
          </p:cNvSpPr>
          <p:nvPr/>
        </p:nvSpPr>
        <p:spPr>
          <a:xfrm>
            <a:off x="723900" y="6223635"/>
            <a:ext cx="3429000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014A1D-6480-4C29-AF2B-C8DEB0CE40BD}"/>
              </a:ext>
            </a:extLst>
          </p:cNvPr>
          <p:cNvSpPr>
            <a:spLocks noGrp="1"/>
          </p:cNvSpPr>
          <p:nvPr/>
        </p:nvSpPr>
        <p:spPr>
          <a:xfrm>
            <a:off x="838200" y="63055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前端实现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2617CF0-B1F9-44A6-BE15-5CE5F8C6701A}"/>
              </a:ext>
            </a:extLst>
          </p:cNvPr>
          <p:cNvSpPr>
            <a:spLocks noGrp="1"/>
          </p:cNvSpPr>
          <p:nvPr/>
        </p:nvSpPr>
        <p:spPr>
          <a:xfrm>
            <a:off x="4152900" y="6223635"/>
            <a:ext cx="5242084" cy="4667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CF40FB-D022-4389-B07F-430CA935FC2D}"/>
              </a:ext>
            </a:extLst>
          </p:cNvPr>
          <p:cNvSpPr>
            <a:spLocks noGrp="1"/>
          </p:cNvSpPr>
          <p:nvPr/>
        </p:nvSpPr>
        <p:spPr>
          <a:xfrm>
            <a:off x="4267200" y="6305550"/>
            <a:ext cx="5010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Vue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33ADC50-9DBA-4181-89BB-3126AF288B76}"/>
              </a:ext>
            </a:extLst>
          </p:cNvPr>
          <p:cNvSpPr>
            <a:spLocks noGrp="1"/>
          </p:cNvSpPr>
          <p:nvPr/>
        </p:nvSpPr>
        <p:spPr>
          <a:xfrm>
            <a:off x="9715500" y="3810000"/>
            <a:ext cx="7848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667B7"/>
                </a:solidFill>
              </a:defRPr>
            </a:pPr>
            <a:r>
              <a:rPr sz="4200" b="1">
                <a:solidFill>
                  <a:srgbClr val="1667B7"/>
                </a:solidFill>
              </a:rPr>
              <a:t>常驻内存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EBBEEAD-F09F-489C-B330-37D3D2526582}"/>
              </a:ext>
            </a:extLst>
          </p:cNvPr>
          <p:cNvSpPr>
            <a:spLocks noGrp="1"/>
          </p:cNvSpPr>
          <p:nvPr/>
        </p:nvSpPr>
        <p:spPr>
          <a:xfrm>
            <a:off x="9715500" y="453390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模型推理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635E81E-D71C-49B1-B1F0-0A1E69DB7A9C}"/>
              </a:ext>
            </a:extLst>
          </p:cNvPr>
          <p:cNvSpPr>
            <a:spLocks noGrp="1"/>
          </p:cNvSpPr>
          <p:nvPr/>
        </p:nvSpPr>
        <p:spPr>
          <a:xfrm>
            <a:off x="9715500" y="4838700"/>
            <a:ext cx="7848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避免每次检测重复加载模型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26E29C-4DC5-4F3A-B8C0-574B64659CA5}"/>
              </a:ext>
            </a:extLst>
          </p:cNvPr>
          <p:cNvSpPr>
            <a:spLocks noGrp="1"/>
          </p:cNvSpPr>
          <p:nvPr/>
        </p:nvSpPr>
        <p:spPr>
          <a:xfrm>
            <a:off x="9715500" y="5219700"/>
            <a:ext cx="7848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0E9488"/>
                </a:solidFill>
              </a:defRPr>
            </a:pPr>
            <a:r>
              <a:rPr sz="4200" b="1">
                <a:solidFill>
                  <a:srgbClr val="0E9488"/>
                </a:solidFill>
              </a:rPr>
              <a:t>HTTP/JSON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2E1E977-C279-4E7C-AB60-1589DCB9A1C1}"/>
              </a:ext>
            </a:extLst>
          </p:cNvPr>
          <p:cNvSpPr>
            <a:spLocks noGrp="1"/>
          </p:cNvSpPr>
          <p:nvPr/>
        </p:nvSpPr>
        <p:spPr>
          <a:xfrm>
            <a:off x="9715500" y="592455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数据上报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1B82272-BA4B-42AC-89BD-AC83ACA79DCC}"/>
              </a:ext>
            </a:extLst>
          </p:cNvPr>
          <p:cNvSpPr>
            <a:spLocks noGrp="1"/>
          </p:cNvSpPr>
          <p:nvPr/>
        </p:nvSpPr>
        <p:spPr>
          <a:xfrm>
            <a:off x="9715500" y="6229350"/>
            <a:ext cx="7848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设备密钥 X-API-Key 校验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5D55816-B6B5-400E-93E3-19A2B2F4CB59}"/>
              </a:ext>
            </a:extLst>
          </p:cNvPr>
          <p:cNvSpPr>
            <a:spLocks noGrp="1"/>
          </p:cNvSpPr>
          <p:nvPr/>
        </p:nvSpPr>
        <p:spPr>
          <a:xfrm>
            <a:off x="9715500" y="6610350"/>
            <a:ext cx="7848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E99B24"/>
                </a:solidFill>
              </a:defRPr>
            </a:pPr>
            <a:r>
              <a:rPr sz="4200" b="1">
                <a:solidFill>
                  <a:srgbClr val="E99B24"/>
                </a:solidFill>
              </a:rPr>
              <a:t>异步检测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4E305B5-AE9C-4947-AECE-DD409CE39A64}"/>
              </a:ext>
            </a:extLst>
          </p:cNvPr>
          <p:cNvSpPr>
            <a:spLocks noGrp="1"/>
          </p:cNvSpPr>
          <p:nvPr/>
        </p:nvSpPr>
        <p:spPr>
          <a:xfrm>
            <a:off x="9715500" y="733425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任务调度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AF1300D-E296-4200-85C6-65461B4AE2E1}"/>
              </a:ext>
            </a:extLst>
          </p:cNvPr>
          <p:cNvSpPr>
            <a:spLocks noGrp="1"/>
          </p:cNvSpPr>
          <p:nvPr/>
        </p:nvSpPr>
        <p:spPr>
          <a:xfrm>
            <a:off x="9715500" y="7639050"/>
            <a:ext cx="7848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数据接收与模型推理解耦</a:t>
            </a:r>
          </a:p>
        </p:txBody>
      </p:sp>
    </p:spTree>
    <p:extLst>
      <p:ext uri="{BB962C8B-B14F-4D97-AF65-F5344CB8AC3E}">
        <p14:creationId xmlns:p14="http://schemas.microsoft.com/office/powerpoint/2010/main" val="14633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bg">
            <a:extLst>
              <a:ext uri="{FF2B5EF4-FFF2-40B4-BE49-F238E27FC236}">
                <a16:creationId xmlns:a16="http://schemas.microsoft.com/office/drawing/2014/main" id="{B9416BBE-33A7-4061-A52F-4FBF407AA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BD8D7F-0F8F-492C-9820-6FE44FB6AD04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实验评价指标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9C02000-8D38-491C-8CB0-DA88B7076DF9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4343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从检测准确性和工程性能两个角度验证系统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C15C887C-B4E9-48F8-A76F-82F46D5F5DA4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D93C26-C677-41D7-88C0-D299DEC16E3B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8258175" cy="7892415"/>
          </a:xfrm>
          <a:prstGeom prst="roundRect">
            <a:avLst>
              <a:gd name="adj" fmla="val 483"/>
            </a:avLst>
          </a:prstGeom>
          <a:solidFill>
            <a:srgbClr val="FFFFFF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7C8EAB-2DDC-4D41-BDBC-E00A830ACA22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7620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667B7"/>
                </a:solidFill>
              </a:defRPr>
            </a:pPr>
            <a:r>
              <a:rPr sz="2700" b="1">
                <a:solidFill>
                  <a:srgbClr val="1667B7"/>
                </a:solidFill>
              </a:rPr>
              <a:t>检测准确性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311C35E8-BB41-4F07-A61D-86ED87D1765B}"/>
              </a:ext>
            </a:extLst>
          </p:cNvPr>
          <p:cNvSpPr>
            <a:spLocks noGrp="1"/>
          </p:cNvSpPr>
          <p:nvPr/>
        </p:nvSpPr>
        <p:spPr>
          <a:xfrm>
            <a:off x="1047750" y="51054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Accuracy：整体判断正确比例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C6A817E2-0BC6-4806-8903-1D62A9E1CFEF}"/>
              </a:ext>
            </a:extLst>
          </p:cNvPr>
          <p:cNvSpPr>
            <a:spLocks noGrp="1"/>
          </p:cNvSpPr>
          <p:nvPr/>
        </p:nvSpPr>
        <p:spPr>
          <a:xfrm>
            <a:off x="1047750" y="55245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Precision：预测异常中真实异常的比例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95772805-D150-4BC2-9513-B44D63F5743F}"/>
              </a:ext>
            </a:extLst>
          </p:cNvPr>
          <p:cNvSpPr>
            <a:spLocks noGrp="1"/>
          </p:cNvSpPr>
          <p:nvPr/>
        </p:nvSpPr>
        <p:spPr>
          <a:xfrm>
            <a:off x="1047750" y="59436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Recall：真实异常被成功发现的比例</a:t>
            </a:r>
          </a:p>
        </p:txBody>
      </p:sp>
      <p:sp>
        <p:nvSpPr>
          <p:cNvPr id="10" name="bullet-3">
            <a:extLst>
              <a:ext uri="{FF2B5EF4-FFF2-40B4-BE49-F238E27FC236}">
                <a16:creationId xmlns:a16="http://schemas.microsoft.com/office/drawing/2014/main" id="{0AA1CC60-67D9-4136-B17D-A9D7A5D1BCC8}"/>
              </a:ext>
            </a:extLst>
          </p:cNvPr>
          <p:cNvSpPr>
            <a:spLocks noGrp="1"/>
          </p:cNvSpPr>
          <p:nvPr/>
        </p:nvSpPr>
        <p:spPr>
          <a:xfrm>
            <a:off x="1047750" y="63627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F1-score：精确率和召回率的综合指标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D1C75B-C1A3-4499-A44F-95D95247A549}"/>
              </a:ext>
            </a:extLst>
          </p:cNvPr>
          <p:cNvSpPr>
            <a:spLocks noGrp="1"/>
          </p:cNvSpPr>
          <p:nvPr/>
        </p:nvSpPr>
        <p:spPr>
          <a:xfrm>
            <a:off x="1047750" y="68389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D94C4C"/>
                </a:solidFill>
              </a:defRPr>
            </a:pPr>
            <a:r>
              <a:rPr sz="1800" b="1">
                <a:solidFill>
                  <a:srgbClr val="D94C4C"/>
                </a:solidFill>
              </a:rPr>
              <a:t>燃气安全场景中漏报风险更高，因此召回率和 F1-score 是重点指标。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3615AB-4F7F-4DDE-B032-155A37F6C9DE}"/>
              </a:ext>
            </a:extLst>
          </p:cNvPr>
          <p:cNvSpPr>
            <a:spLocks noGrp="1"/>
          </p:cNvSpPr>
          <p:nvPr/>
        </p:nvSpPr>
        <p:spPr>
          <a:xfrm>
            <a:off x="9305925" y="1861185"/>
            <a:ext cx="8258175" cy="7892415"/>
          </a:xfrm>
          <a:prstGeom prst="roundRect">
            <a:avLst>
              <a:gd name="adj" fmla="val 483"/>
            </a:avLst>
          </a:prstGeom>
          <a:solidFill>
            <a:srgbClr val="FFFF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B78265-762E-48B6-BEBB-42D39FCF2537}"/>
              </a:ext>
            </a:extLst>
          </p:cNvPr>
          <p:cNvSpPr>
            <a:spLocks noGrp="1"/>
          </p:cNvSpPr>
          <p:nvPr/>
        </p:nvSpPr>
        <p:spPr>
          <a:xfrm>
            <a:off x="9639300" y="4743450"/>
            <a:ext cx="7620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E9488"/>
                </a:solidFill>
              </a:defRPr>
            </a:pPr>
            <a:r>
              <a:rPr sz="2700" b="1">
                <a:solidFill>
                  <a:srgbClr val="0E9488"/>
                </a:solidFill>
              </a:rPr>
              <a:t>工程性能</a:t>
            </a:r>
          </a:p>
        </p:txBody>
      </p:sp>
      <p:sp>
        <p:nvSpPr>
          <p:cNvPr id="14" name="bullet-0">
            <a:extLst>
              <a:ext uri="{FF2B5EF4-FFF2-40B4-BE49-F238E27FC236}">
                <a16:creationId xmlns:a16="http://schemas.microsoft.com/office/drawing/2014/main" id="{81E5D023-62CD-4997-ACFE-C88ECA3A87A8}"/>
              </a:ext>
            </a:extLst>
          </p:cNvPr>
          <p:cNvSpPr>
            <a:spLocks noGrp="1"/>
          </p:cNvSpPr>
          <p:nvPr/>
        </p:nvSpPr>
        <p:spPr>
          <a:xfrm>
            <a:off x="9639300" y="53340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ROC / AUC：不同阈值下区分正常与异常的能力</a:t>
            </a:r>
          </a:p>
        </p:txBody>
      </p:sp>
      <p:sp>
        <p:nvSpPr>
          <p:cNvPr id="15" name="bullet-1">
            <a:extLst>
              <a:ext uri="{FF2B5EF4-FFF2-40B4-BE49-F238E27FC236}">
                <a16:creationId xmlns:a16="http://schemas.microsoft.com/office/drawing/2014/main" id="{6198AEB5-BD90-49C3-9B16-FB905E76A8E9}"/>
              </a:ext>
            </a:extLst>
          </p:cNvPr>
          <p:cNvSpPr>
            <a:spLocks noGrp="1"/>
          </p:cNvSpPr>
          <p:nvPr/>
        </p:nvSpPr>
        <p:spPr>
          <a:xfrm>
            <a:off x="9639300" y="57531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Latency：单次窗口推理与端到端响应时间</a:t>
            </a:r>
          </a:p>
        </p:txBody>
      </p:sp>
      <p:sp>
        <p:nvSpPr>
          <p:cNvPr id="16" name="bullet-2">
            <a:extLst>
              <a:ext uri="{FF2B5EF4-FFF2-40B4-BE49-F238E27FC236}">
                <a16:creationId xmlns:a16="http://schemas.microsoft.com/office/drawing/2014/main" id="{785333A2-C0B1-47C1-94AE-6543E497C5F1}"/>
              </a:ext>
            </a:extLst>
          </p:cNvPr>
          <p:cNvSpPr>
            <a:spLocks noGrp="1"/>
          </p:cNvSpPr>
          <p:nvPr/>
        </p:nvSpPr>
        <p:spPr>
          <a:xfrm>
            <a:off x="9639300" y="61722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业务流程：告警生成、工单派发、处理结果回写</a:t>
            </a:r>
          </a:p>
        </p:txBody>
      </p:sp>
      <p:sp>
        <p:nvSpPr>
          <p:cNvPr id="17" name="bullet-3">
            <a:extLst>
              <a:ext uri="{FF2B5EF4-FFF2-40B4-BE49-F238E27FC236}">
                <a16:creationId xmlns:a16="http://schemas.microsoft.com/office/drawing/2014/main" id="{846B5AF4-3A3F-4806-A461-EAE4490EE09D}"/>
              </a:ext>
            </a:extLst>
          </p:cNvPr>
          <p:cNvSpPr>
            <a:spLocks noGrp="1"/>
          </p:cNvSpPr>
          <p:nvPr/>
        </p:nvSpPr>
        <p:spPr>
          <a:xfrm>
            <a:off x="9639300" y="65913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持续训练：数据分布变化后的模型恢复能力</a:t>
            </a:r>
          </a:p>
        </p:txBody>
      </p:sp>
    </p:spTree>
    <p:extLst>
      <p:ext uri="{BB962C8B-B14F-4D97-AF65-F5344CB8AC3E}">
        <p14:creationId xmlns:p14="http://schemas.microsoft.com/office/powerpoint/2010/main" val="50287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-bg">
            <a:extLst>
              <a:ext uri="{FF2B5EF4-FFF2-40B4-BE49-F238E27FC236}">
                <a16:creationId xmlns:a16="http://schemas.microsoft.com/office/drawing/2014/main" id="{C3A8CA18-3593-4D27-B66B-A369A3B5F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588E8B5-1486-45A3-8EB9-23DE961FDB44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实验结果一：与传统检测方法对比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EB8D80C-1157-4D17-B6E6-4BAB9D9EB2D7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905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LSTM AutoEncoder 在准确率和 F1-score 上取得最优综合表现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B5FECAD5-9A4C-41A7-8B60-CBA781D0BC94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graphicFrame>
        <p:nvGraphicFramePr>
          <p:cNvPr id="5" name="method-f1-chart"/>
          <p:cNvGraphicFramePr/>
          <p:nvPr/>
        </p:nvGraphicFramePr>
        <p:xfrm>
          <a:off x="723900" y="2135505"/>
          <a:ext cx="8691086" cy="761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0E95244-23F2-4714-9236-ABD4AFE43121}"/>
              </a:ext>
            </a:extLst>
          </p:cNvPr>
          <p:cNvSpPr>
            <a:spLocks noGrp="1"/>
          </p:cNvSpPr>
          <p:nvPr/>
        </p:nvSpPr>
        <p:spPr>
          <a:xfrm>
            <a:off x="9700736" y="4205288"/>
            <a:ext cx="20955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699282-CB3C-4CFF-BF63-E5BDDDE4265D}"/>
              </a:ext>
            </a:extLst>
          </p:cNvPr>
          <p:cNvSpPr>
            <a:spLocks noGrp="1"/>
          </p:cNvSpPr>
          <p:nvPr/>
        </p:nvSpPr>
        <p:spPr>
          <a:xfrm>
            <a:off x="9810750" y="430530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15F224-CD5E-4E2E-851F-2CE6F9041431}"/>
              </a:ext>
            </a:extLst>
          </p:cNvPr>
          <p:cNvSpPr>
            <a:spLocks noGrp="1"/>
          </p:cNvSpPr>
          <p:nvPr/>
        </p:nvSpPr>
        <p:spPr>
          <a:xfrm>
            <a:off x="11796236" y="4205288"/>
            <a:ext cx="1143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EDB6D2-7D71-448D-8D88-F17527C8ECB6}"/>
              </a:ext>
            </a:extLst>
          </p:cNvPr>
          <p:cNvSpPr>
            <a:spLocks noGrp="1"/>
          </p:cNvSpPr>
          <p:nvPr/>
        </p:nvSpPr>
        <p:spPr>
          <a:xfrm>
            <a:off x="11906250" y="43053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准确率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C42785-96E3-4E56-B964-1860E9841E7B}"/>
              </a:ext>
            </a:extLst>
          </p:cNvPr>
          <p:cNvSpPr>
            <a:spLocks noGrp="1"/>
          </p:cNvSpPr>
          <p:nvPr/>
        </p:nvSpPr>
        <p:spPr>
          <a:xfrm>
            <a:off x="12939236" y="4205288"/>
            <a:ext cx="1143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C06A8A-09A8-4C7E-86C2-483970844BF0}"/>
              </a:ext>
            </a:extLst>
          </p:cNvPr>
          <p:cNvSpPr>
            <a:spLocks noGrp="1"/>
          </p:cNvSpPr>
          <p:nvPr/>
        </p:nvSpPr>
        <p:spPr>
          <a:xfrm>
            <a:off x="13049250" y="43053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精确率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7DD3C6-3980-4473-BF8C-42D807774827}"/>
              </a:ext>
            </a:extLst>
          </p:cNvPr>
          <p:cNvSpPr>
            <a:spLocks noGrp="1"/>
          </p:cNvSpPr>
          <p:nvPr/>
        </p:nvSpPr>
        <p:spPr>
          <a:xfrm>
            <a:off x="14082236" y="4205288"/>
            <a:ext cx="1143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6E2A6B-CD6C-42DF-898D-F6E45CC5618D}"/>
              </a:ext>
            </a:extLst>
          </p:cNvPr>
          <p:cNvSpPr>
            <a:spLocks noGrp="1"/>
          </p:cNvSpPr>
          <p:nvPr/>
        </p:nvSpPr>
        <p:spPr>
          <a:xfrm>
            <a:off x="14192250" y="43053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召回率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458272-4B51-4937-92C8-CD1CB00B15DA}"/>
              </a:ext>
            </a:extLst>
          </p:cNvPr>
          <p:cNvSpPr>
            <a:spLocks noGrp="1"/>
          </p:cNvSpPr>
          <p:nvPr/>
        </p:nvSpPr>
        <p:spPr>
          <a:xfrm>
            <a:off x="15225236" y="4205288"/>
            <a:ext cx="104775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B7D888-B70D-4541-9F87-2FC231F2A545}"/>
              </a:ext>
            </a:extLst>
          </p:cNvPr>
          <p:cNvSpPr>
            <a:spLocks noGrp="1"/>
          </p:cNvSpPr>
          <p:nvPr/>
        </p:nvSpPr>
        <p:spPr>
          <a:xfrm>
            <a:off x="15335250" y="43053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902ADF-4A35-4598-8C57-7F1528E03D4D}"/>
              </a:ext>
            </a:extLst>
          </p:cNvPr>
          <p:cNvSpPr>
            <a:spLocks noGrp="1"/>
          </p:cNvSpPr>
          <p:nvPr/>
        </p:nvSpPr>
        <p:spPr>
          <a:xfrm>
            <a:off x="9700736" y="4681538"/>
            <a:ext cx="2095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08C2FA-F63E-45C2-A07B-3511841F2083}"/>
              </a:ext>
            </a:extLst>
          </p:cNvPr>
          <p:cNvSpPr>
            <a:spLocks noGrp="1"/>
          </p:cNvSpPr>
          <p:nvPr/>
        </p:nvSpPr>
        <p:spPr>
          <a:xfrm>
            <a:off x="9810750" y="476250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固定阈值法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37AA79-97FC-4FF4-BDAD-03FEF90F1969}"/>
              </a:ext>
            </a:extLst>
          </p:cNvPr>
          <p:cNvSpPr>
            <a:spLocks noGrp="1"/>
          </p:cNvSpPr>
          <p:nvPr/>
        </p:nvSpPr>
        <p:spPr>
          <a:xfrm>
            <a:off x="11796236" y="46815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C2A08D-B135-4395-B540-D8582464D6D5}"/>
              </a:ext>
            </a:extLst>
          </p:cNvPr>
          <p:cNvSpPr>
            <a:spLocks noGrp="1"/>
          </p:cNvSpPr>
          <p:nvPr/>
        </p:nvSpPr>
        <p:spPr>
          <a:xfrm>
            <a:off x="11906250" y="47625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0.842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EE6DC7-90F3-45D8-9DB2-E3D78A4C8835}"/>
              </a:ext>
            </a:extLst>
          </p:cNvPr>
          <p:cNvSpPr>
            <a:spLocks noGrp="1"/>
          </p:cNvSpPr>
          <p:nvPr/>
        </p:nvSpPr>
        <p:spPr>
          <a:xfrm>
            <a:off x="12939236" y="46815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BD3BC8-051B-404C-BEFB-1850892798A0}"/>
              </a:ext>
            </a:extLst>
          </p:cNvPr>
          <p:cNvSpPr>
            <a:spLocks noGrp="1"/>
          </p:cNvSpPr>
          <p:nvPr/>
        </p:nvSpPr>
        <p:spPr>
          <a:xfrm>
            <a:off x="13049250" y="47625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4D7ED7-8582-4CE2-8CD8-9B5FF1FBA238}"/>
              </a:ext>
            </a:extLst>
          </p:cNvPr>
          <p:cNvSpPr>
            <a:spLocks noGrp="1"/>
          </p:cNvSpPr>
          <p:nvPr/>
        </p:nvSpPr>
        <p:spPr>
          <a:xfrm>
            <a:off x="14082236" y="46815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9DF3F3-2F55-4E00-9A36-34C57385DF59}"/>
              </a:ext>
            </a:extLst>
          </p:cNvPr>
          <p:cNvSpPr>
            <a:spLocks noGrp="1"/>
          </p:cNvSpPr>
          <p:nvPr/>
        </p:nvSpPr>
        <p:spPr>
          <a:xfrm>
            <a:off x="14192250" y="47625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0.684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BE01C6-7AA0-466A-A3B7-1EC0AE3EF46B}"/>
              </a:ext>
            </a:extLst>
          </p:cNvPr>
          <p:cNvSpPr>
            <a:spLocks noGrp="1"/>
          </p:cNvSpPr>
          <p:nvPr/>
        </p:nvSpPr>
        <p:spPr>
          <a:xfrm>
            <a:off x="15225236" y="4681538"/>
            <a:ext cx="104775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59AFB6-9F9A-4BE7-A4B5-33A06795C5C7}"/>
              </a:ext>
            </a:extLst>
          </p:cNvPr>
          <p:cNvSpPr>
            <a:spLocks noGrp="1"/>
          </p:cNvSpPr>
          <p:nvPr/>
        </p:nvSpPr>
        <p:spPr>
          <a:xfrm>
            <a:off x="15335250" y="47625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0.740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67C3E1-9832-411D-937B-CD40564BCE65}"/>
              </a:ext>
            </a:extLst>
          </p:cNvPr>
          <p:cNvSpPr>
            <a:spLocks noGrp="1"/>
          </p:cNvSpPr>
          <p:nvPr/>
        </p:nvSpPr>
        <p:spPr>
          <a:xfrm>
            <a:off x="9700736" y="5291138"/>
            <a:ext cx="20955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8F3AF6-EC25-4DEF-8ECF-0351E992B5AC}"/>
              </a:ext>
            </a:extLst>
          </p:cNvPr>
          <p:cNvSpPr>
            <a:spLocks noGrp="1"/>
          </p:cNvSpPr>
          <p:nvPr/>
        </p:nvSpPr>
        <p:spPr>
          <a:xfrm>
            <a:off x="9810750" y="537210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3-Sigma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CA60B8-5929-45F1-9C83-A317F2CA674E}"/>
              </a:ext>
            </a:extLst>
          </p:cNvPr>
          <p:cNvSpPr>
            <a:spLocks noGrp="1"/>
          </p:cNvSpPr>
          <p:nvPr/>
        </p:nvSpPr>
        <p:spPr>
          <a:xfrm>
            <a:off x="11796236" y="5291138"/>
            <a:ext cx="11430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A1B709-85AF-4157-9BC1-4E2D53511F4E}"/>
              </a:ext>
            </a:extLst>
          </p:cNvPr>
          <p:cNvSpPr>
            <a:spLocks noGrp="1"/>
          </p:cNvSpPr>
          <p:nvPr/>
        </p:nvSpPr>
        <p:spPr>
          <a:xfrm>
            <a:off x="11906250" y="53721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0.835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6C3A97-7420-4C25-A670-0DD07E02481B}"/>
              </a:ext>
            </a:extLst>
          </p:cNvPr>
          <p:cNvSpPr>
            <a:spLocks noGrp="1"/>
          </p:cNvSpPr>
          <p:nvPr/>
        </p:nvSpPr>
        <p:spPr>
          <a:xfrm>
            <a:off x="12939236" y="5291138"/>
            <a:ext cx="11430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280CEAC-5DDB-4F22-A9C3-10E24405C756}"/>
              </a:ext>
            </a:extLst>
          </p:cNvPr>
          <p:cNvSpPr>
            <a:spLocks noGrp="1"/>
          </p:cNvSpPr>
          <p:nvPr/>
        </p:nvSpPr>
        <p:spPr>
          <a:xfrm>
            <a:off x="13049250" y="53721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0.700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C5CCD6-0C23-479B-8855-4DFBD78FC24E}"/>
              </a:ext>
            </a:extLst>
          </p:cNvPr>
          <p:cNvSpPr>
            <a:spLocks noGrp="1"/>
          </p:cNvSpPr>
          <p:nvPr/>
        </p:nvSpPr>
        <p:spPr>
          <a:xfrm>
            <a:off x="14082236" y="5291138"/>
            <a:ext cx="11430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1D8BE7-04EF-4AD1-85F6-D9C099A03F57}"/>
              </a:ext>
            </a:extLst>
          </p:cNvPr>
          <p:cNvSpPr>
            <a:spLocks noGrp="1"/>
          </p:cNvSpPr>
          <p:nvPr/>
        </p:nvSpPr>
        <p:spPr>
          <a:xfrm>
            <a:off x="14192250" y="53721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0.958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EDAA83-0B0E-4752-94FF-297FC78728F8}"/>
              </a:ext>
            </a:extLst>
          </p:cNvPr>
          <p:cNvSpPr>
            <a:spLocks noGrp="1"/>
          </p:cNvSpPr>
          <p:nvPr/>
        </p:nvSpPr>
        <p:spPr>
          <a:xfrm>
            <a:off x="15225236" y="5291138"/>
            <a:ext cx="104775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575B33-2944-40D2-BE78-BC3E36B60317}"/>
              </a:ext>
            </a:extLst>
          </p:cNvPr>
          <p:cNvSpPr>
            <a:spLocks noGrp="1"/>
          </p:cNvSpPr>
          <p:nvPr/>
        </p:nvSpPr>
        <p:spPr>
          <a:xfrm>
            <a:off x="15335250" y="53721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0.809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0A0371-E02F-48A3-9445-96D28C673730}"/>
              </a:ext>
            </a:extLst>
          </p:cNvPr>
          <p:cNvSpPr>
            <a:spLocks noGrp="1"/>
          </p:cNvSpPr>
          <p:nvPr/>
        </p:nvSpPr>
        <p:spPr>
          <a:xfrm>
            <a:off x="9700736" y="5900738"/>
            <a:ext cx="2095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6B301B-09B1-4634-8163-469D221DBA03}"/>
              </a:ext>
            </a:extLst>
          </p:cNvPr>
          <p:cNvSpPr>
            <a:spLocks noGrp="1"/>
          </p:cNvSpPr>
          <p:nvPr/>
        </p:nvSpPr>
        <p:spPr>
          <a:xfrm>
            <a:off x="9810750" y="598170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LSTM AE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A25D68-617F-4B9F-A59C-A2AEF93B3B5F}"/>
              </a:ext>
            </a:extLst>
          </p:cNvPr>
          <p:cNvSpPr>
            <a:spLocks noGrp="1"/>
          </p:cNvSpPr>
          <p:nvPr/>
        </p:nvSpPr>
        <p:spPr>
          <a:xfrm>
            <a:off x="11796236" y="59007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E76E7B7-FF50-4B29-8860-360436F0346F}"/>
              </a:ext>
            </a:extLst>
          </p:cNvPr>
          <p:cNvSpPr>
            <a:spLocks noGrp="1"/>
          </p:cNvSpPr>
          <p:nvPr/>
        </p:nvSpPr>
        <p:spPr>
          <a:xfrm>
            <a:off x="11906250" y="59817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0.893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582681-DCAA-48A5-A4D5-524E8DA2A649}"/>
              </a:ext>
            </a:extLst>
          </p:cNvPr>
          <p:cNvSpPr>
            <a:spLocks noGrp="1"/>
          </p:cNvSpPr>
          <p:nvPr/>
        </p:nvSpPr>
        <p:spPr>
          <a:xfrm>
            <a:off x="12939236" y="59007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B85AD20-D497-4404-8DFA-EFEC0687B00B}"/>
              </a:ext>
            </a:extLst>
          </p:cNvPr>
          <p:cNvSpPr>
            <a:spLocks noGrp="1"/>
          </p:cNvSpPr>
          <p:nvPr/>
        </p:nvSpPr>
        <p:spPr>
          <a:xfrm>
            <a:off x="13049250" y="59817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0.858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DB3188-D50D-4136-A5DA-548D89751F7E}"/>
              </a:ext>
            </a:extLst>
          </p:cNvPr>
          <p:cNvSpPr>
            <a:spLocks noGrp="1"/>
          </p:cNvSpPr>
          <p:nvPr/>
        </p:nvSpPr>
        <p:spPr>
          <a:xfrm>
            <a:off x="14082236" y="590073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C970314-2CF8-4FB4-82E6-BE623D1612B9}"/>
              </a:ext>
            </a:extLst>
          </p:cNvPr>
          <p:cNvSpPr>
            <a:spLocks noGrp="1"/>
          </p:cNvSpPr>
          <p:nvPr/>
        </p:nvSpPr>
        <p:spPr>
          <a:xfrm>
            <a:off x="14192250" y="598170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0.846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B4AE55D-85DB-4A14-8912-3A32457ED96D}"/>
              </a:ext>
            </a:extLst>
          </p:cNvPr>
          <p:cNvSpPr>
            <a:spLocks noGrp="1"/>
          </p:cNvSpPr>
          <p:nvPr/>
        </p:nvSpPr>
        <p:spPr>
          <a:xfrm>
            <a:off x="15225236" y="5900738"/>
            <a:ext cx="104775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FBE234E-74D0-411F-AD7E-88F14A8D895F}"/>
              </a:ext>
            </a:extLst>
          </p:cNvPr>
          <p:cNvSpPr>
            <a:spLocks noGrp="1"/>
          </p:cNvSpPr>
          <p:nvPr/>
        </p:nvSpPr>
        <p:spPr>
          <a:xfrm>
            <a:off x="15335250" y="5981700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0.852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E5BFBD1-3D1D-4426-AA1D-A7D892783A85}"/>
              </a:ext>
            </a:extLst>
          </p:cNvPr>
          <p:cNvSpPr>
            <a:spLocks noGrp="1"/>
          </p:cNvSpPr>
          <p:nvPr/>
        </p:nvSpPr>
        <p:spPr>
          <a:xfrm>
            <a:off x="9700736" y="6700838"/>
            <a:ext cx="7863364" cy="982980"/>
          </a:xfrm>
          <a:prstGeom prst="roundRect">
            <a:avLst>
              <a:gd name="adj" fmla="val 3876"/>
            </a:avLst>
          </a:prstGeom>
          <a:solidFill>
            <a:srgbClr val="EAF2FC"/>
          </a:solidFill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76C526-CA02-434B-A978-3D52F91AC02D}"/>
              </a:ext>
            </a:extLst>
          </p:cNvPr>
          <p:cNvSpPr>
            <a:spLocks noGrp="1"/>
          </p:cNvSpPr>
          <p:nvPr/>
        </p:nvSpPr>
        <p:spPr>
          <a:xfrm>
            <a:off x="9925050" y="6934200"/>
            <a:ext cx="7410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667B7"/>
                </a:solidFill>
              </a:defRPr>
            </a:pPr>
            <a:r>
              <a:rPr sz="1725" b="1">
                <a:solidFill>
                  <a:srgbClr val="1667B7"/>
                </a:solidFill>
              </a:rPr>
              <a:t>结论：固定阈值对明显越界有效但召回不足；3-Sigma 召回较高但误报多；LSTM AE 能学习多维时序关系，综合表现更稳定。</a:t>
            </a:r>
          </a:p>
        </p:txBody>
      </p:sp>
    </p:spTree>
    <p:extLst>
      <p:ext uri="{BB962C8B-B14F-4D97-AF65-F5344CB8AC3E}">
        <p14:creationId xmlns:p14="http://schemas.microsoft.com/office/powerpoint/2010/main" val="2043492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bg">
            <a:extLst>
              <a:ext uri="{FF2B5EF4-FFF2-40B4-BE49-F238E27FC236}">
                <a16:creationId xmlns:a16="http://schemas.microsoft.com/office/drawing/2014/main" id="{3FA8EEDE-D5C7-474B-8F89-1131D1B317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6AAA62-522D-4CD7-B867-F1BA87D074D9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实验结果二：阈值 τ 对检测效果的影响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4C88BC9-AFA1-4DC0-B099-EF9D4C8C23BC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72771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阈值升高会减少误报，但也会降低召回率；92% 分位点附近 F1-score 最优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2AE4A669-C978-4908-BEFA-4CB082BDD70C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graphicFrame>
        <p:nvGraphicFramePr>
          <p:cNvPr id="5" name="threshold-chart"/>
          <p:cNvGraphicFramePr/>
          <p:nvPr/>
        </p:nvGraphicFramePr>
        <p:xfrm>
          <a:off x="723900" y="2135505"/>
          <a:ext cx="9104948" cy="761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0C1EF53-B137-4F3F-B2F5-77C564EB3C7A}"/>
              </a:ext>
            </a:extLst>
          </p:cNvPr>
          <p:cNvSpPr>
            <a:spLocks noGrp="1"/>
          </p:cNvSpPr>
          <p:nvPr/>
        </p:nvSpPr>
        <p:spPr>
          <a:xfrm>
            <a:off x="10096500" y="4495800"/>
            <a:ext cx="74676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D94C4C"/>
                </a:solidFill>
              </a:defRPr>
            </a:pPr>
            <a:r>
              <a:rPr sz="4200" b="1">
                <a:solidFill>
                  <a:srgbClr val="D94C4C"/>
                </a:solidFill>
              </a:rPr>
              <a:t>0.852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439950-162E-42B3-9406-1F614C4131B5}"/>
              </a:ext>
            </a:extLst>
          </p:cNvPr>
          <p:cNvSpPr>
            <a:spLocks noGrp="1"/>
          </p:cNvSpPr>
          <p:nvPr/>
        </p:nvSpPr>
        <p:spPr>
          <a:xfrm>
            <a:off x="10096500" y="5219700"/>
            <a:ext cx="7467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最优 F1-score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F0EEF2-C652-4F46-B269-FAD9AE28C87A}"/>
              </a:ext>
            </a:extLst>
          </p:cNvPr>
          <p:cNvSpPr>
            <a:spLocks noGrp="1"/>
          </p:cNvSpPr>
          <p:nvPr/>
        </p:nvSpPr>
        <p:spPr>
          <a:xfrm>
            <a:off x="10096500" y="5524500"/>
            <a:ext cx="7467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92% 分位点，τ = 0.704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C89814-962A-4338-89A6-6DEFBCB5D0C1}"/>
              </a:ext>
            </a:extLst>
          </p:cNvPr>
          <p:cNvSpPr>
            <a:spLocks noGrp="1"/>
          </p:cNvSpPr>
          <p:nvPr/>
        </p:nvSpPr>
        <p:spPr>
          <a:xfrm>
            <a:off x="10114598" y="5879783"/>
            <a:ext cx="7449503" cy="1512570"/>
          </a:xfrm>
          <a:prstGeom prst="roundRect">
            <a:avLst>
              <a:gd name="adj" fmla="val 2519"/>
            </a:avLst>
          </a:prstGeom>
          <a:solidFill>
            <a:srgbClr val="FFFFFF"/>
          </a:solidFill>
        </p:spPr>
      </p:sp>
      <p:sp>
        <p:nvSpPr>
          <p:cNvPr id="10" name="bullet-0">
            <a:extLst>
              <a:ext uri="{FF2B5EF4-FFF2-40B4-BE49-F238E27FC236}">
                <a16:creationId xmlns:a16="http://schemas.microsoft.com/office/drawing/2014/main" id="{8C16D4A2-2234-4024-9317-33D07CDA325C}"/>
              </a:ext>
            </a:extLst>
          </p:cNvPr>
          <p:cNvSpPr>
            <a:spLocks noGrp="1"/>
          </p:cNvSpPr>
          <p:nvPr/>
        </p:nvSpPr>
        <p:spPr>
          <a:xfrm>
            <a:off x="10344150" y="6115050"/>
            <a:ext cx="699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低阈值：召回高，但误报增加</a:t>
            </a:r>
          </a:p>
        </p:txBody>
      </p:sp>
      <p:sp>
        <p:nvSpPr>
          <p:cNvPr id="11" name="bullet-1">
            <a:extLst>
              <a:ext uri="{FF2B5EF4-FFF2-40B4-BE49-F238E27FC236}">
                <a16:creationId xmlns:a16="http://schemas.microsoft.com/office/drawing/2014/main" id="{DED66B61-2CD8-4952-B821-047C6D8EE3A0}"/>
              </a:ext>
            </a:extLst>
          </p:cNvPr>
          <p:cNvSpPr>
            <a:spLocks noGrp="1"/>
          </p:cNvSpPr>
          <p:nvPr/>
        </p:nvSpPr>
        <p:spPr>
          <a:xfrm>
            <a:off x="10344150" y="6496050"/>
            <a:ext cx="699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高阈值：精确率高，但漏报风险上升</a:t>
            </a:r>
          </a:p>
        </p:txBody>
      </p:sp>
      <p:sp>
        <p:nvSpPr>
          <p:cNvPr id="12" name="bullet-2">
            <a:extLst>
              <a:ext uri="{FF2B5EF4-FFF2-40B4-BE49-F238E27FC236}">
                <a16:creationId xmlns:a16="http://schemas.microsoft.com/office/drawing/2014/main" id="{44B3971C-3E82-4770-866B-B89B31BB7043}"/>
              </a:ext>
            </a:extLst>
          </p:cNvPr>
          <p:cNvSpPr>
            <a:spLocks noGrp="1"/>
          </p:cNvSpPr>
          <p:nvPr/>
        </p:nvSpPr>
        <p:spPr>
          <a:xfrm>
            <a:off x="10344150" y="6896100"/>
            <a:ext cx="699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• 燃气安全场景不宜设置过高阈值</a:t>
            </a:r>
          </a:p>
        </p:txBody>
      </p:sp>
    </p:spTree>
    <p:extLst>
      <p:ext uri="{BB962C8B-B14F-4D97-AF65-F5344CB8AC3E}">
        <p14:creationId xmlns:p14="http://schemas.microsoft.com/office/powerpoint/2010/main" val="119178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-bg">
            <a:extLst>
              <a:ext uri="{FF2B5EF4-FFF2-40B4-BE49-F238E27FC236}">
                <a16:creationId xmlns:a16="http://schemas.microsoft.com/office/drawing/2014/main" id="{B714C2CB-1940-44A9-98F1-EA4B23CAA4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66E7E2-AD60-4D71-9CA6-E48477DF42A5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实验结果三：系统实时性测试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BFC5770-AA8B-445A-863E-2D93C442F4A9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1244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端到端平均响应时间 0.68s，满足秒级异常监测要求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8A7EEE5F-CFA9-41DF-8D6A-611F4A98E1F1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3FF7C3-D574-438C-8387-A5645AD3765F}"/>
              </a:ext>
            </a:extLst>
          </p:cNvPr>
          <p:cNvSpPr>
            <a:spLocks noGrp="1"/>
          </p:cNvSpPr>
          <p:nvPr/>
        </p:nvSpPr>
        <p:spPr>
          <a:xfrm>
            <a:off x="723900" y="2135505"/>
            <a:ext cx="409575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83714-45B2-4171-9DBB-BED2F7D420EA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测试项目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FC534D-5FB3-4586-89AB-278F956F8514}"/>
              </a:ext>
            </a:extLst>
          </p:cNvPr>
          <p:cNvSpPr>
            <a:spLocks noGrp="1"/>
          </p:cNvSpPr>
          <p:nvPr/>
        </p:nvSpPr>
        <p:spPr>
          <a:xfrm>
            <a:off x="4819650" y="2135505"/>
            <a:ext cx="1524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F992C4-07B5-4261-A42E-BCE526085AE2}"/>
              </a:ext>
            </a:extLst>
          </p:cNvPr>
          <p:cNvSpPr>
            <a:spLocks noGrp="1"/>
          </p:cNvSpPr>
          <p:nvPr/>
        </p:nvSpPr>
        <p:spPr>
          <a:xfrm>
            <a:off x="4933950" y="22288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平均耗时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8AD8C8-943C-494A-9E2C-57A8D4B4DF80}"/>
              </a:ext>
            </a:extLst>
          </p:cNvPr>
          <p:cNvSpPr>
            <a:spLocks noGrp="1"/>
          </p:cNvSpPr>
          <p:nvPr/>
        </p:nvSpPr>
        <p:spPr>
          <a:xfrm>
            <a:off x="6343650" y="2135505"/>
            <a:ext cx="1524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FEBF0-3712-4CEE-A3E4-C0CD81DE6B33}"/>
              </a:ext>
            </a:extLst>
          </p:cNvPr>
          <p:cNvSpPr>
            <a:spLocks noGrp="1"/>
          </p:cNvSpPr>
          <p:nvPr/>
        </p:nvSpPr>
        <p:spPr>
          <a:xfrm>
            <a:off x="6457950" y="22288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最大耗时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08CAEF-B77E-499C-A38F-F9755CFCF761}"/>
              </a:ext>
            </a:extLst>
          </p:cNvPr>
          <p:cNvSpPr>
            <a:spLocks noGrp="1"/>
          </p:cNvSpPr>
          <p:nvPr/>
        </p:nvSpPr>
        <p:spPr>
          <a:xfrm>
            <a:off x="7867650" y="2135505"/>
            <a:ext cx="2353151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82139F-1025-48D1-AC13-B41DD8EEF245}"/>
              </a:ext>
            </a:extLst>
          </p:cNvPr>
          <p:cNvSpPr>
            <a:spLocks noGrp="1"/>
          </p:cNvSpPr>
          <p:nvPr/>
        </p:nvSpPr>
        <p:spPr>
          <a:xfrm>
            <a:off x="7981950" y="222885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5FB5A7-5E43-49E6-A908-221C19F0B369}"/>
              </a:ext>
            </a:extLst>
          </p:cNvPr>
          <p:cNvSpPr>
            <a:spLocks noGrp="1"/>
          </p:cNvSpPr>
          <p:nvPr/>
        </p:nvSpPr>
        <p:spPr>
          <a:xfrm>
            <a:off x="723900" y="2611755"/>
            <a:ext cx="409575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A886E8-CF50-416A-83B6-573EE855B321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JSON 报文接收与解析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056A7B-8927-4CEF-8763-A4BAEF6DA7F7}"/>
              </a:ext>
            </a:extLst>
          </p:cNvPr>
          <p:cNvSpPr>
            <a:spLocks noGrp="1"/>
          </p:cNvSpPr>
          <p:nvPr/>
        </p:nvSpPr>
        <p:spPr>
          <a:xfrm>
            <a:off x="4819650" y="26117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805CD-65EC-4BF3-A778-D8138C8D3339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0.05s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F36144-A2F2-425E-AF28-35B1590B3ED1}"/>
              </a:ext>
            </a:extLst>
          </p:cNvPr>
          <p:cNvSpPr>
            <a:spLocks noGrp="1"/>
          </p:cNvSpPr>
          <p:nvPr/>
        </p:nvSpPr>
        <p:spPr>
          <a:xfrm>
            <a:off x="6343650" y="26117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24C197-995A-468E-8021-CEF9FF6C2353}"/>
              </a:ext>
            </a:extLst>
          </p:cNvPr>
          <p:cNvSpPr>
            <a:spLocks noGrp="1"/>
          </p:cNvSpPr>
          <p:nvPr/>
        </p:nvSpPr>
        <p:spPr>
          <a:xfrm>
            <a:off x="6457950" y="26860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0.09s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F8E8A0-E34A-4B59-B430-8DBBD233D898}"/>
              </a:ext>
            </a:extLst>
          </p:cNvPr>
          <p:cNvSpPr>
            <a:spLocks noGrp="1"/>
          </p:cNvSpPr>
          <p:nvPr/>
        </p:nvSpPr>
        <p:spPr>
          <a:xfrm>
            <a:off x="7867650" y="2611755"/>
            <a:ext cx="2353151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7C446C-05D3-49D6-B481-EFC1453D35BC}"/>
              </a:ext>
            </a:extLst>
          </p:cNvPr>
          <p:cNvSpPr>
            <a:spLocks noGrp="1"/>
          </p:cNvSpPr>
          <p:nvPr/>
        </p:nvSpPr>
        <p:spPr>
          <a:xfrm>
            <a:off x="7981950" y="268605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正常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1137F1-88E9-42F4-84A1-E9A103939090}"/>
              </a:ext>
            </a:extLst>
          </p:cNvPr>
          <p:cNvSpPr>
            <a:spLocks noGrp="1"/>
          </p:cNvSpPr>
          <p:nvPr/>
        </p:nvSpPr>
        <p:spPr>
          <a:xfrm>
            <a:off x="723900" y="3240405"/>
            <a:ext cx="409575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BFBFCE-4CD8-49CC-B2FE-7B38875BD631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数据入库与窗口构造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1CC71D-74D7-4D67-A7B5-14D81F70D8FA}"/>
              </a:ext>
            </a:extLst>
          </p:cNvPr>
          <p:cNvSpPr>
            <a:spLocks noGrp="1"/>
          </p:cNvSpPr>
          <p:nvPr/>
        </p:nvSpPr>
        <p:spPr>
          <a:xfrm>
            <a:off x="4819650" y="32404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7F036F-1AC1-4BB2-BF1D-E20E47E44D7D}"/>
              </a:ext>
            </a:extLst>
          </p:cNvPr>
          <p:cNvSpPr>
            <a:spLocks noGrp="1"/>
          </p:cNvSpPr>
          <p:nvPr/>
        </p:nvSpPr>
        <p:spPr>
          <a:xfrm>
            <a:off x="4933950" y="33147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0.12s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5F3153-D022-407B-A320-F597F9027A79}"/>
              </a:ext>
            </a:extLst>
          </p:cNvPr>
          <p:cNvSpPr>
            <a:spLocks noGrp="1"/>
          </p:cNvSpPr>
          <p:nvPr/>
        </p:nvSpPr>
        <p:spPr>
          <a:xfrm>
            <a:off x="6343650" y="32404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7797F6-5759-47B8-BB43-4EA258A73341}"/>
              </a:ext>
            </a:extLst>
          </p:cNvPr>
          <p:cNvSpPr>
            <a:spLocks noGrp="1"/>
          </p:cNvSpPr>
          <p:nvPr/>
        </p:nvSpPr>
        <p:spPr>
          <a:xfrm>
            <a:off x="6457950" y="33147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0.21s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D0F3BB-5D35-41E5-A2D8-B78F1B280C8B}"/>
              </a:ext>
            </a:extLst>
          </p:cNvPr>
          <p:cNvSpPr>
            <a:spLocks noGrp="1"/>
          </p:cNvSpPr>
          <p:nvPr/>
        </p:nvSpPr>
        <p:spPr>
          <a:xfrm>
            <a:off x="7867650" y="3240405"/>
            <a:ext cx="2353151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FE8940-CF32-4E3D-A74E-6D224F4E83B2}"/>
              </a:ext>
            </a:extLst>
          </p:cNvPr>
          <p:cNvSpPr>
            <a:spLocks noGrp="1"/>
          </p:cNvSpPr>
          <p:nvPr/>
        </p:nvSpPr>
        <p:spPr>
          <a:xfrm>
            <a:off x="7981950" y="331470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正常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A3E95D-EC1D-4049-BD0E-9FFC5ECAE753}"/>
              </a:ext>
            </a:extLst>
          </p:cNvPr>
          <p:cNvSpPr>
            <a:spLocks noGrp="1"/>
          </p:cNvSpPr>
          <p:nvPr/>
        </p:nvSpPr>
        <p:spPr>
          <a:xfrm>
            <a:off x="723900" y="3869055"/>
            <a:ext cx="409575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589E02-1B28-4E90-A78D-C9ED732B0A7A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LSTM AE 推理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6336F6-9422-4641-908F-E4F920DA912C}"/>
              </a:ext>
            </a:extLst>
          </p:cNvPr>
          <p:cNvSpPr>
            <a:spLocks noGrp="1"/>
          </p:cNvSpPr>
          <p:nvPr/>
        </p:nvSpPr>
        <p:spPr>
          <a:xfrm>
            <a:off x="4819650" y="38690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DFCF44-40AD-4326-A2D7-894D0F832273}"/>
              </a:ext>
            </a:extLst>
          </p:cNvPr>
          <p:cNvSpPr>
            <a:spLocks noGrp="1"/>
          </p:cNvSpPr>
          <p:nvPr/>
        </p:nvSpPr>
        <p:spPr>
          <a:xfrm>
            <a:off x="4933950" y="39433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0.18s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A659F10-E58E-4F00-AA66-646E6852AB9C}"/>
              </a:ext>
            </a:extLst>
          </p:cNvPr>
          <p:cNvSpPr>
            <a:spLocks noGrp="1"/>
          </p:cNvSpPr>
          <p:nvPr/>
        </p:nvSpPr>
        <p:spPr>
          <a:xfrm>
            <a:off x="6343650" y="38690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5E7A13-E25D-4CF9-B776-581B7FB76261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0.34s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D5D63B-1974-42FB-B526-60E2D7E0C283}"/>
              </a:ext>
            </a:extLst>
          </p:cNvPr>
          <p:cNvSpPr>
            <a:spLocks noGrp="1"/>
          </p:cNvSpPr>
          <p:nvPr/>
        </p:nvSpPr>
        <p:spPr>
          <a:xfrm>
            <a:off x="7867650" y="3869055"/>
            <a:ext cx="2353151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F05589B-B62C-4602-923B-D2CB1FF0F1D2}"/>
              </a:ext>
            </a:extLst>
          </p:cNvPr>
          <p:cNvSpPr>
            <a:spLocks noGrp="1"/>
          </p:cNvSpPr>
          <p:nvPr/>
        </p:nvSpPr>
        <p:spPr>
          <a:xfrm>
            <a:off x="7981950" y="394335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正常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71C341-880E-4F6C-BD9E-89F55ED2E7B6}"/>
              </a:ext>
            </a:extLst>
          </p:cNvPr>
          <p:cNvSpPr>
            <a:spLocks noGrp="1"/>
          </p:cNvSpPr>
          <p:nvPr/>
        </p:nvSpPr>
        <p:spPr>
          <a:xfrm>
            <a:off x="723900" y="4497705"/>
            <a:ext cx="409575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E6034A1-DD8A-4ADA-9784-6EA867B7AB30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告警记录生成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DF6E7F-5AA7-4B4D-9AEF-0B0C47E99C83}"/>
              </a:ext>
            </a:extLst>
          </p:cNvPr>
          <p:cNvSpPr>
            <a:spLocks noGrp="1"/>
          </p:cNvSpPr>
          <p:nvPr/>
        </p:nvSpPr>
        <p:spPr>
          <a:xfrm>
            <a:off x="4819650" y="44977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4860F26-2D45-4B67-BC78-9A7138A87272}"/>
              </a:ext>
            </a:extLst>
          </p:cNvPr>
          <p:cNvSpPr>
            <a:spLocks noGrp="1"/>
          </p:cNvSpPr>
          <p:nvPr/>
        </p:nvSpPr>
        <p:spPr>
          <a:xfrm>
            <a:off x="4933950" y="45720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0.07s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9B623B-5A89-4D7D-8D40-7B997BC30C45}"/>
              </a:ext>
            </a:extLst>
          </p:cNvPr>
          <p:cNvSpPr>
            <a:spLocks noGrp="1"/>
          </p:cNvSpPr>
          <p:nvPr/>
        </p:nvSpPr>
        <p:spPr>
          <a:xfrm>
            <a:off x="6343650" y="44977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194AC7B-5132-444C-948B-AC7E239F134F}"/>
              </a:ext>
            </a:extLst>
          </p:cNvPr>
          <p:cNvSpPr>
            <a:spLocks noGrp="1"/>
          </p:cNvSpPr>
          <p:nvPr/>
        </p:nvSpPr>
        <p:spPr>
          <a:xfrm>
            <a:off x="6457950" y="45720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0.13s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3F888A-25F1-4B2E-95D3-5FB049870FFC}"/>
              </a:ext>
            </a:extLst>
          </p:cNvPr>
          <p:cNvSpPr>
            <a:spLocks noGrp="1"/>
          </p:cNvSpPr>
          <p:nvPr/>
        </p:nvSpPr>
        <p:spPr>
          <a:xfrm>
            <a:off x="7867650" y="4497705"/>
            <a:ext cx="2353151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6DE70EC-061E-4E9F-A415-E39DAD0237BC}"/>
              </a:ext>
            </a:extLst>
          </p:cNvPr>
          <p:cNvSpPr>
            <a:spLocks noGrp="1"/>
          </p:cNvSpPr>
          <p:nvPr/>
        </p:nvSpPr>
        <p:spPr>
          <a:xfrm>
            <a:off x="7981950" y="457200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正常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852DE-06E6-4CC3-A3B0-3BE6CC2816E4}"/>
              </a:ext>
            </a:extLst>
          </p:cNvPr>
          <p:cNvSpPr>
            <a:spLocks noGrp="1"/>
          </p:cNvSpPr>
          <p:nvPr/>
        </p:nvSpPr>
        <p:spPr>
          <a:xfrm>
            <a:off x="723900" y="5126355"/>
            <a:ext cx="409575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863EEF9-78F9-46F2-8732-A670067D01FC}"/>
              </a:ext>
            </a:extLst>
          </p:cNvPr>
          <p:cNvSpPr>
            <a:spLocks noGrp="1"/>
          </p:cNvSpPr>
          <p:nvPr/>
        </p:nvSpPr>
        <p:spPr>
          <a:xfrm>
            <a:off x="838200" y="52006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WebSocket 页面刷新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9A8514B-D75D-4668-8D06-D33381DB6914}"/>
              </a:ext>
            </a:extLst>
          </p:cNvPr>
          <p:cNvSpPr>
            <a:spLocks noGrp="1"/>
          </p:cNvSpPr>
          <p:nvPr/>
        </p:nvSpPr>
        <p:spPr>
          <a:xfrm>
            <a:off x="4819650" y="51263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6F87F93-1822-4982-9A90-76A6FFB8CDA6}"/>
              </a:ext>
            </a:extLst>
          </p:cNvPr>
          <p:cNvSpPr>
            <a:spLocks noGrp="1"/>
          </p:cNvSpPr>
          <p:nvPr/>
        </p:nvSpPr>
        <p:spPr>
          <a:xfrm>
            <a:off x="4933950" y="52006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0.26s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29A40F-76A2-4B12-94C1-685DF8123B76}"/>
              </a:ext>
            </a:extLst>
          </p:cNvPr>
          <p:cNvSpPr>
            <a:spLocks noGrp="1"/>
          </p:cNvSpPr>
          <p:nvPr/>
        </p:nvSpPr>
        <p:spPr>
          <a:xfrm>
            <a:off x="6343650" y="5126355"/>
            <a:ext cx="1524000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A4A850-9BAF-4759-9A25-83ED51F6D9BB}"/>
              </a:ext>
            </a:extLst>
          </p:cNvPr>
          <p:cNvSpPr>
            <a:spLocks noGrp="1"/>
          </p:cNvSpPr>
          <p:nvPr/>
        </p:nvSpPr>
        <p:spPr>
          <a:xfrm>
            <a:off x="6457950" y="520065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0.49s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B025756-F138-4608-AB81-4E2FFBA31E49}"/>
              </a:ext>
            </a:extLst>
          </p:cNvPr>
          <p:cNvSpPr>
            <a:spLocks noGrp="1"/>
          </p:cNvSpPr>
          <p:nvPr/>
        </p:nvSpPr>
        <p:spPr>
          <a:xfrm>
            <a:off x="7867650" y="5126355"/>
            <a:ext cx="2353151" cy="60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982F564-D209-4D7F-9042-5B418810D63E}"/>
              </a:ext>
            </a:extLst>
          </p:cNvPr>
          <p:cNvSpPr>
            <a:spLocks noGrp="1"/>
          </p:cNvSpPr>
          <p:nvPr/>
        </p:nvSpPr>
        <p:spPr>
          <a:xfrm>
            <a:off x="7981950" y="520065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正常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7E43927-1808-4872-A40E-84309FCD7390}"/>
              </a:ext>
            </a:extLst>
          </p:cNvPr>
          <p:cNvSpPr>
            <a:spLocks noGrp="1"/>
          </p:cNvSpPr>
          <p:nvPr/>
        </p:nvSpPr>
        <p:spPr>
          <a:xfrm>
            <a:off x="723900" y="5755005"/>
            <a:ext cx="409575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C44DAB2-3875-4667-BE5A-48E912ED2470}"/>
              </a:ext>
            </a:extLst>
          </p:cNvPr>
          <p:cNvSpPr>
            <a:spLocks noGrp="1"/>
          </p:cNvSpPr>
          <p:nvPr/>
        </p:nvSpPr>
        <p:spPr>
          <a:xfrm>
            <a:off x="838200" y="582930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端到端总响应时间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75DA523-CA63-4173-9CFB-69828E90C896}"/>
              </a:ext>
            </a:extLst>
          </p:cNvPr>
          <p:cNvSpPr>
            <a:spLocks noGrp="1"/>
          </p:cNvSpPr>
          <p:nvPr/>
        </p:nvSpPr>
        <p:spPr>
          <a:xfrm>
            <a:off x="4819650" y="57550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43008D1-95AE-41B8-8CB0-D9618178157B}"/>
              </a:ext>
            </a:extLst>
          </p:cNvPr>
          <p:cNvSpPr>
            <a:spLocks noGrp="1"/>
          </p:cNvSpPr>
          <p:nvPr/>
        </p:nvSpPr>
        <p:spPr>
          <a:xfrm>
            <a:off x="4933950" y="58293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0.68s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ECC0320-1627-41C8-B142-AB53331EDFE6}"/>
              </a:ext>
            </a:extLst>
          </p:cNvPr>
          <p:cNvSpPr>
            <a:spLocks noGrp="1"/>
          </p:cNvSpPr>
          <p:nvPr/>
        </p:nvSpPr>
        <p:spPr>
          <a:xfrm>
            <a:off x="6343650" y="5755005"/>
            <a:ext cx="1524000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59FEAA-28F8-48CC-9593-35FC28A2E648}"/>
              </a:ext>
            </a:extLst>
          </p:cNvPr>
          <p:cNvSpPr>
            <a:spLocks noGrp="1"/>
          </p:cNvSpPr>
          <p:nvPr/>
        </p:nvSpPr>
        <p:spPr>
          <a:xfrm>
            <a:off x="6457950" y="5829300"/>
            <a:ext cx="1295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1.26s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2DF63F1-59A8-4B83-A627-B8760C235D7E}"/>
              </a:ext>
            </a:extLst>
          </p:cNvPr>
          <p:cNvSpPr>
            <a:spLocks noGrp="1"/>
          </p:cNvSpPr>
          <p:nvPr/>
        </p:nvSpPr>
        <p:spPr>
          <a:xfrm>
            <a:off x="7867650" y="5755005"/>
            <a:ext cx="2353151" cy="60960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AEF561E-EEA3-4B45-ACFB-0BD699BCCEC1}"/>
              </a:ext>
            </a:extLst>
          </p:cNvPr>
          <p:cNvSpPr>
            <a:spLocks noGrp="1"/>
          </p:cNvSpPr>
          <p:nvPr/>
        </p:nvSpPr>
        <p:spPr>
          <a:xfrm>
            <a:off x="7981950" y="5829300"/>
            <a:ext cx="213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526274"/>
                </a:solidFill>
              </a:defRPr>
            </a:pPr>
            <a:r>
              <a:rPr sz="1500" b="0">
                <a:solidFill>
                  <a:srgbClr val="526274"/>
                </a:solidFill>
              </a:rPr>
              <a:t>满足秒级要求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17DA217-AAE0-457B-9B96-337D5F9B5483}"/>
              </a:ext>
            </a:extLst>
          </p:cNvPr>
          <p:cNvSpPr>
            <a:spLocks noGrp="1"/>
          </p:cNvSpPr>
          <p:nvPr/>
        </p:nvSpPr>
        <p:spPr>
          <a:xfrm>
            <a:off x="10553700" y="3886200"/>
            <a:ext cx="70104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667B7"/>
                </a:solidFill>
              </a:defRPr>
            </a:pPr>
            <a:r>
              <a:rPr sz="4200" b="1">
                <a:solidFill>
                  <a:srgbClr val="1667B7"/>
                </a:solidFill>
              </a:rPr>
              <a:t>0.18s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F8AD5B1-B316-4A87-AE62-E3D5531E6DC9}"/>
              </a:ext>
            </a:extLst>
          </p:cNvPr>
          <p:cNvSpPr>
            <a:spLocks noGrp="1"/>
          </p:cNvSpPr>
          <p:nvPr/>
        </p:nvSpPr>
        <p:spPr>
          <a:xfrm>
            <a:off x="10553700" y="4610100"/>
            <a:ext cx="701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平均推理耗时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8E6B9FA-EFB0-4B94-8C41-844E62443B1F}"/>
              </a:ext>
            </a:extLst>
          </p:cNvPr>
          <p:cNvSpPr>
            <a:spLocks noGrp="1"/>
          </p:cNvSpPr>
          <p:nvPr/>
        </p:nvSpPr>
        <p:spPr>
          <a:xfrm>
            <a:off x="10553700" y="4914900"/>
            <a:ext cx="7010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单个 24×7 窗口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A6100D9-A817-4360-B9CB-D6245B442105}"/>
              </a:ext>
            </a:extLst>
          </p:cNvPr>
          <p:cNvSpPr>
            <a:spLocks noGrp="1"/>
          </p:cNvSpPr>
          <p:nvPr/>
        </p:nvSpPr>
        <p:spPr>
          <a:xfrm>
            <a:off x="10553700" y="5353050"/>
            <a:ext cx="70104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2B9C61"/>
                </a:solidFill>
              </a:defRPr>
            </a:pPr>
            <a:r>
              <a:rPr sz="4200" b="1">
                <a:solidFill>
                  <a:srgbClr val="2B9C61"/>
                </a:solidFill>
              </a:rPr>
              <a:t>0.68s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43FB6BF-D8C8-4FD4-91CD-00B6089F04FA}"/>
              </a:ext>
            </a:extLst>
          </p:cNvPr>
          <p:cNvSpPr>
            <a:spLocks noGrp="1"/>
          </p:cNvSpPr>
          <p:nvPr/>
        </p:nvSpPr>
        <p:spPr>
          <a:xfrm>
            <a:off x="10553700" y="6057900"/>
            <a:ext cx="701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端到端平均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A346EDA-AD20-477F-9CEF-A01E01CFB1E9}"/>
              </a:ext>
            </a:extLst>
          </p:cNvPr>
          <p:cNvSpPr>
            <a:spLocks noGrp="1"/>
          </p:cNvSpPr>
          <p:nvPr/>
        </p:nvSpPr>
        <p:spPr>
          <a:xfrm>
            <a:off x="10553700" y="6362700"/>
            <a:ext cx="7010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上报到前端告警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186BF15-DE55-4D55-B359-E3847ADA23C0}"/>
              </a:ext>
            </a:extLst>
          </p:cNvPr>
          <p:cNvSpPr>
            <a:spLocks noGrp="1"/>
          </p:cNvSpPr>
          <p:nvPr/>
        </p:nvSpPr>
        <p:spPr>
          <a:xfrm>
            <a:off x="10553700" y="6800850"/>
            <a:ext cx="70104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E99B24"/>
                </a:solidFill>
              </a:defRPr>
            </a:pPr>
            <a:r>
              <a:rPr sz="4200" b="1">
                <a:solidFill>
                  <a:srgbClr val="E99B24"/>
                </a:solidFill>
              </a:rPr>
              <a:t>1.26s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EBC4BC1-64DB-4377-9D70-7DD4D99D87CB}"/>
              </a:ext>
            </a:extLst>
          </p:cNvPr>
          <p:cNvSpPr>
            <a:spLocks noGrp="1"/>
          </p:cNvSpPr>
          <p:nvPr/>
        </p:nvSpPr>
        <p:spPr>
          <a:xfrm>
            <a:off x="10553700" y="7524750"/>
            <a:ext cx="701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最大端到端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A630AE6-8158-4AD7-8615-8F5B9CBB5CA3}"/>
              </a:ext>
            </a:extLst>
          </p:cNvPr>
          <p:cNvSpPr>
            <a:spLocks noGrp="1"/>
          </p:cNvSpPr>
          <p:nvPr/>
        </p:nvSpPr>
        <p:spPr>
          <a:xfrm>
            <a:off x="10553700" y="7829550"/>
            <a:ext cx="7010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274"/>
                </a:solidFill>
              </a:defRPr>
            </a:pPr>
            <a:r>
              <a:rPr sz="1125">
                <a:solidFill>
                  <a:srgbClr val="526274"/>
                </a:solidFill>
              </a:rPr>
              <a:t>仍处于秒级范围</a:t>
            </a:r>
          </a:p>
        </p:txBody>
      </p:sp>
    </p:spTree>
    <p:extLst>
      <p:ext uri="{BB962C8B-B14F-4D97-AF65-F5344CB8AC3E}">
        <p14:creationId xmlns:p14="http://schemas.microsoft.com/office/powerpoint/2010/main" val="1466616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bg">
            <a:extLst>
              <a:ext uri="{FF2B5EF4-FFF2-40B4-BE49-F238E27FC236}">
                <a16:creationId xmlns:a16="http://schemas.microsoft.com/office/drawing/2014/main" id="{8D1150A2-8C53-43DE-8E1B-E006D609D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69023A-50C8-48CB-91ED-92EBDA9FD788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实验结果四：持续训练验证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AE0347C-9926-4B91-AF87-990AAD8E5659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6629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数据分布偏移会降低模型效果，持续训练能够恢复并提升检测性能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9064ACE-7E4C-4B22-9013-54E4D645B6FB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graphicFrame>
        <p:nvGraphicFramePr>
          <p:cNvPr id="5" name="ct-chart"/>
          <p:cNvGraphicFramePr/>
          <p:nvPr/>
        </p:nvGraphicFramePr>
        <p:xfrm>
          <a:off x="723900" y="1861185"/>
          <a:ext cx="8918829" cy="7892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6C4AF81-9E88-47F0-9E79-10866610323E}"/>
              </a:ext>
            </a:extLst>
          </p:cNvPr>
          <p:cNvSpPr>
            <a:spLocks noGrp="1"/>
          </p:cNvSpPr>
          <p:nvPr/>
        </p:nvSpPr>
        <p:spPr>
          <a:xfrm>
            <a:off x="9966579" y="4068128"/>
            <a:ext cx="24765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A603D1-4A35-4ACF-B40C-DAC86B86C9F1}"/>
              </a:ext>
            </a:extLst>
          </p:cNvPr>
          <p:cNvSpPr>
            <a:spLocks noGrp="1"/>
          </p:cNvSpPr>
          <p:nvPr/>
        </p:nvSpPr>
        <p:spPr>
          <a:xfrm>
            <a:off x="10077450" y="4171950"/>
            <a:ext cx="2247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E4614A-F768-43FF-BE4E-551B98C92337}"/>
              </a:ext>
            </a:extLst>
          </p:cNvPr>
          <p:cNvSpPr>
            <a:spLocks noGrp="1"/>
          </p:cNvSpPr>
          <p:nvPr/>
        </p:nvSpPr>
        <p:spPr>
          <a:xfrm>
            <a:off x="12443079" y="4068128"/>
            <a:ext cx="13335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E4797-B12F-4024-857C-5813B8E748CD}"/>
              </a:ext>
            </a:extLst>
          </p:cNvPr>
          <p:cNvSpPr>
            <a:spLocks noGrp="1"/>
          </p:cNvSpPr>
          <p:nvPr/>
        </p:nvSpPr>
        <p:spPr>
          <a:xfrm>
            <a:off x="12553950" y="4171950"/>
            <a:ext cx="1104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准确率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CBC656-3DD6-4BDA-B65F-388CEBFEE15C}"/>
              </a:ext>
            </a:extLst>
          </p:cNvPr>
          <p:cNvSpPr>
            <a:spLocks noGrp="1"/>
          </p:cNvSpPr>
          <p:nvPr/>
        </p:nvSpPr>
        <p:spPr>
          <a:xfrm>
            <a:off x="13776579" y="4068128"/>
            <a:ext cx="1143000" cy="457200"/>
          </a:xfrm>
          <a:prstGeom prst="rect">
            <a:avLst/>
          </a:prstGeom>
          <a:solidFill>
            <a:srgbClr val="0A2642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197221-52BE-4F70-96EE-9EE2E222A19B}"/>
              </a:ext>
            </a:extLst>
          </p:cNvPr>
          <p:cNvSpPr>
            <a:spLocks noGrp="1"/>
          </p:cNvSpPr>
          <p:nvPr/>
        </p:nvSpPr>
        <p:spPr>
          <a:xfrm>
            <a:off x="13887450" y="417195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A4F19-6D36-48F8-B13F-EA31BB85C2A8}"/>
              </a:ext>
            </a:extLst>
          </p:cNvPr>
          <p:cNvSpPr>
            <a:spLocks noGrp="1"/>
          </p:cNvSpPr>
          <p:nvPr/>
        </p:nvSpPr>
        <p:spPr>
          <a:xfrm>
            <a:off x="9966579" y="4544378"/>
            <a:ext cx="2476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9CF18C-2812-4443-9ED5-A4C13F9F962C}"/>
              </a:ext>
            </a:extLst>
          </p:cNvPr>
          <p:cNvSpPr>
            <a:spLocks noGrp="1"/>
          </p:cNvSpPr>
          <p:nvPr/>
        </p:nvSpPr>
        <p:spPr>
          <a:xfrm>
            <a:off x="10077450" y="46291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偏移前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E50B98-BDD8-4757-A73A-E1A3794858EE}"/>
              </a:ext>
            </a:extLst>
          </p:cNvPr>
          <p:cNvSpPr>
            <a:spLocks noGrp="1"/>
          </p:cNvSpPr>
          <p:nvPr/>
        </p:nvSpPr>
        <p:spPr>
          <a:xfrm>
            <a:off x="12443079" y="4544378"/>
            <a:ext cx="1333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DD4E6C-F9D0-4169-A5FD-DCFA8A93DA89}"/>
              </a:ext>
            </a:extLst>
          </p:cNvPr>
          <p:cNvSpPr>
            <a:spLocks noGrp="1"/>
          </p:cNvSpPr>
          <p:nvPr/>
        </p:nvSpPr>
        <p:spPr>
          <a:xfrm>
            <a:off x="12553950" y="4629150"/>
            <a:ext cx="1104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0.826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A8A69C-80B4-4945-877B-CD9ABA510C2F}"/>
              </a:ext>
            </a:extLst>
          </p:cNvPr>
          <p:cNvSpPr>
            <a:spLocks noGrp="1"/>
          </p:cNvSpPr>
          <p:nvPr/>
        </p:nvSpPr>
        <p:spPr>
          <a:xfrm>
            <a:off x="13776579" y="454437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4B6576-0278-4917-A5D0-2961FDAE5A13}"/>
              </a:ext>
            </a:extLst>
          </p:cNvPr>
          <p:cNvSpPr>
            <a:spLocks noGrp="1"/>
          </p:cNvSpPr>
          <p:nvPr/>
        </p:nvSpPr>
        <p:spPr>
          <a:xfrm>
            <a:off x="13887450" y="4629150"/>
            <a:ext cx="914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0.689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93FDDD-5035-4940-844D-A60F382C16C9}"/>
              </a:ext>
            </a:extLst>
          </p:cNvPr>
          <p:cNvSpPr>
            <a:spLocks noGrp="1"/>
          </p:cNvSpPr>
          <p:nvPr/>
        </p:nvSpPr>
        <p:spPr>
          <a:xfrm>
            <a:off x="9966579" y="5153978"/>
            <a:ext cx="24765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A5265D-1FB1-4B63-8A53-D975C1B211EE}"/>
              </a:ext>
            </a:extLst>
          </p:cNvPr>
          <p:cNvSpPr>
            <a:spLocks noGrp="1"/>
          </p:cNvSpPr>
          <p:nvPr/>
        </p:nvSpPr>
        <p:spPr>
          <a:xfrm>
            <a:off x="10077450" y="52387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偏移后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F21499-AAAD-4EBD-B387-6D65D2077161}"/>
              </a:ext>
            </a:extLst>
          </p:cNvPr>
          <p:cNvSpPr>
            <a:spLocks noGrp="1"/>
          </p:cNvSpPr>
          <p:nvPr/>
        </p:nvSpPr>
        <p:spPr>
          <a:xfrm>
            <a:off x="12443079" y="5153978"/>
            <a:ext cx="13335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6FA964-9024-4A57-B665-361B4EFEFEC2}"/>
              </a:ext>
            </a:extLst>
          </p:cNvPr>
          <p:cNvSpPr>
            <a:spLocks noGrp="1"/>
          </p:cNvSpPr>
          <p:nvPr/>
        </p:nvSpPr>
        <p:spPr>
          <a:xfrm>
            <a:off x="12553950" y="5238750"/>
            <a:ext cx="1104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0.781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55D4A1-8357-495B-BC22-9CAA3B2A20D6}"/>
              </a:ext>
            </a:extLst>
          </p:cNvPr>
          <p:cNvSpPr>
            <a:spLocks noGrp="1"/>
          </p:cNvSpPr>
          <p:nvPr/>
        </p:nvSpPr>
        <p:spPr>
          <a:xfrm>
            <a:off x="13776579" y="5153978"/>
            <a:ext cx="1143000" cy="590550"/>
          </a:xfrm>
          <a:prstGeom prst="rect">
            <a:avLst/>
          </a:prstGeom>
          <a:solidFill>
            <a:srgbClr val="EFF4FA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D37E11-7CB3-4E2A-B1E8-31D8698E3182}"/>
              </a:ext>
            </a:extLst>
          </p:cNvPr>
          <p:cNvSpPr>
            <a:spLocks noGrp="1"/>
          </p:cNvSpPr>
          <p:nvPr/>
        </p:nvSpPr>
        <p:spPr>
          <a:xfrm>
            <a:off x="13887450" y="5238750"/>
            <a:ext cx="914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0.632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A7AA5-ED0E-449C-9391-7EC4B1B84A8D}"/>
              </a:ext>
            </a:extLst>
          </p:cNvPr>
          <p:cNvSpPr>
            <a:spLocks noGrp="1"/>
          </p:cNvSpPr>
          <p:nvPr/>
        </p:nvSpPr>
        <p:spPr>
          <a:xfrm>
            <a:off x="9966579" y="5763578"/>
            <a:ext cx="2476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DF4604-8DA3-4025-9189-7171E9B0E947}"/>
              </a:ext>
            </a:extLst>
          </p:cNvPr>
          <p:cNvSpPr>
            <a:spLocks noGrp="1"/>
          </p:cNvSpPr>
          <p:nvPr/>
        </p:nvSpPr>
        <p:spPr>
          <a:xfrm>
            <a:off x="10077450" y="5848350"/>
            <a:ext cx="2247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持续训练后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D44352-8F5E-408B-AFB8-47921458C925}"/>
              </a:ext>
            </a:extLst>
          </p:cNvPr>
          <p:cNvSpPr>
            <a:spLocks noGrp="1"/>
          </p:cNvSpPr>
          <p:nvPr/>
        </p:nvSpPr>
        <p:spPr>
          <a:xfrm>
            <a:off x="12443079" y="5763578"/>
            <a:ext cx="13335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341E790-473D-4F22-A085-EE022A6964C5}"/>
              </a:ext>
            </a:extLst>
          </p:cNvPr>
          <p:cNvSpPr>
            <a:spLocks noGrp="1"/>
          </p:cNvSpPr>
          <p:nvPr/>
        </p:nvSpPr>
        <p:spPr>
          <a:xfrm>
            <a:off x="12553950" y="5848350"/>
            <a:ext cx="11049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0.846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4CF80A6-87A9-4BF4-AF3D-66A55EA7F5A5}"/>
              </a:ext>
            </a:extLst>
          </p:cNvPr>
          <p:cNvSpPr>
            <a:spLocks noGrp="1"/>
          </p:cNvSpPr>
          <p:nvPr/>
        </p:nvSpPr>
        <p:spPr>
          <a:xfrm>
            <a:off x="13776579" y="5763578"/>
            <a:ext cx="1143000" cy="5905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8ED694-EE37-4897-B345-063F00814464}"/>
              </a:ext>
            </a:extLst>
          </p:cNvPr>
          <p:cNvSpPr>
            <a:spLocks noGrp="1"/>
          </p:cNvSpPr>
          <p:nvPr/>
        </p:nvSpPr>
        <p:spPr>
          <a:xfrm>
            <a:off x="13887450" y="5848350"/>
            <a:ext cx="914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526274"/>
                </a:solidFill>
              </a:defRPr>
            </a:pPr>
            <a:r>
              <a:rPr sz="1575" b="0">
                <a:solidFill>
                  <a:srgbClr val="526274"/>
                </a:solidFill>
              </a:rPr>
              <a:t>0.721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E8EA636-D5B9-42E4-9795-2355665F6AAC}"/>
              </a:ext>
            </a:extLst>
          </p:cNvPr>
          <p:cNvSpPr>
            <a:spLocks noGrp="1"/>
          </p:cNvSpPr>
          <p:nvPr/>
        </p:nvSpPr>
        <p:spPr>
          <a:xfrm>
            <a:off x="9966579" y="6563678"/>
            <a:ext cx="7597521" cy="982980"/>
          </a:xfrm>
          <a:prstGeom prst="roundRect">
            <a:avLst>
              <a:gd name="adj" fmla="val 3876"/>
            </a:avLst>
          </a:prstGeom>
          <a:solidFill>
            <a:srgbClr val="EAF6F4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F10912-5547-425F-A8BC-AC90216FF01E}"/>
              </a:ext>
            </a:extLst>
          </p:cNvPr>
          <p:cNvSpPr>
            <a:spLocks noGrp="1"/>
          </p:cNvSpPr>
          <p:nvPr/>
        </p:nvSpPr>
        <p:spPr>
          <a:xfrm>
            <a:off x="10191750" y="6800850"/>
            <a:ext cx="71437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E9488"/>
                </a:solidFill>
              </a:defRPr>
            </a:pPr>
            <a:r>
              <a:rPr sz="1725" b="1">
                <a:solidFill>
                  <a:srgbClr val="0E9488"/>
                </a:solidFill>
              </a:rPr>
              <a:t>持续训练流程：提取新数据 → 清洗标准化 → 构造窗口 → 训练候选模型 → 指标评估 → active model 切换。</a:t>
            </a:r>
          </a:p>
        </p:txBody>
      </p:sp>
    </p:spTree>
    <p:extLst>
      <p:ext uri="{BB962C8B-B14F-4D97-AF65-F5344CB8AC3E}">
        <p14:creationId xmlns:p14="http://schemas.microsoft.com/office/powerpoint/2010/main" val="1176698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bg">
            <a:extLst>
              <a:ext uri="{FF2B5EF4-FFF2-40B4-BE49-F238E27FC236}">
                <a16:creationId xmlns:a16="http://schemas.microsoft.com/office/drawing/2014/main" id="{FCA6B349-CEB9-4916-8020-5D0C46E364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72599C-6999-4F21-BBB5-EB21CAA9412E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典型异常案例：流量突变识别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F3432CE-3A8C-46F4-AD6C-01A5CB9206BD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7086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模型不是判断单点是否越界，而是判断整段时间窗口是否偏离正常模式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7FFBE930-6D58-4AC1-AA9C-B193DF2B9FF8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graphicFrame>
        <p:nvGraphicFramePr>
          <p:cNvPr id="5" name="case-chart"/>
          <p:cNvGraphicFramePr/>
          <p:nvPr/>
        </p:nvGraphicFramePr>
        <p:xfrm>
          <a:off x="723900" y="1861185"/>
          <a:ext cx="8671084" cy="7892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41796D9-3336-4262-82AB-84123E71E463}"/>
              </a:ext>
            </a:extLst>
          </p:cNvPr>
          <p:cNvSpPr>
            <a:spLocks noGrp="1"/>
          </p:cNvSpPr>
          <p:nvPr/>
        </p:nvSpPr>
        <p:spPr>
          <a:xfrm>
            <a:off x="9718834" y="4132898"/>
            <a:ext cx="7845266" cy="2114550"/>
          </a:xfrm>
          <a:prstGeom prst="roundRect">
            <a:avLst>
              <a:gd name="adj" fmla="val 1802"/>
            </a:avLst>
          </a:prstGeom>
          <a:solidFill>
            <a:srgbClr val="FFFFFF"/>
          </a:solidFill>
        </p:spPr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4C0E9514-14C7-47B3-93BF-1DA6D3922503}"/>
              </a:ext>
            </a:extLst>
          </p:cNvPr>
          <p:cNvSpPr>
            <a:spLocks noGrp="1"/>
          </p:cNvSpPr>
          <p:nvPr/>
        </p:nvSpPr>
        <p:spPr>
          <a:xfrm>
            <a:off x="10001250" y="4419600"/>
            <a:ext cx="727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第 6 至第 7 个时间步出现明显流量突增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DFF2C7F1-F854-46AE-8667-9F19960B87EA}"/>
              </a:ext>
            </a:extLst>
          </p:cNvPr>
          <p:cNvSpPr>
            <a:spLocks noGrp="1"/>
          </p:cNvSpPr>
          <p:nvPr/>
        </p:nvSpPr>
        <p:spPr>
          <a:xfrm>
            <a:off x="10001250" y="4838700"/>
            <a:ext cx="727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模型重构结果仍接近正常用气模式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A35E5FBB-FDF6-47CE-A824-79E3E86E5D8F}"/>
              </a:ext>
            </a:extLst>
          </p:cNvPr>
          <p:cNvSpPr>
            <a:spLocks noGrp="1"/>
          </p:cNvSpPr>
          <p:nvPr/>
        </p:nvSpPr>
        <p:spPr>
          <a:xfrm>
            <a:off x="10001250" y="5257800"/>
            <a:ext cx="727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原始序列与重构序列差距迅速增大</a:t>
            </a:r>
          </a:p>
        </p:txBody>
      </p:sp>
      <p:sp>
        <p:nvSpPr>
          <p:cNvPr id="10" name="bullet-3">
            <a:extLst>
              <a:ext uri="{FF2B5EF4-FFF2-40B4-BE49-F238E27FC236}">
                <a16:creationId xmlns:a16="http://schemas.microsoft.com/office/drawing/2014/main" id="{D8E9B3E3-BF1A-4939-9ABC-0603E7C4CF69}"/>
              </a:ext>
            </a:extLst>
          </p:cNvPr>
          <p:cNvSpPr>
            <a:spLocks noGrp="1"/>
          </p:cNvSpPr>
          <p:nvPr/>
        </p:nvSpPr>
        <p:spPr>
          <a:xfrm>
            <a:off x="10001250" y="5676900"/>
            <a:ext cx="727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• 重构误差超过阈值后生成流量异常告警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7BC086-3042-456E-A47E-7E19658B69D2}"/>
              </a:ext>
            </a:extLst>
          </p:cNvPr>
          <p:cNvSpPr>
            <a:spLocks noGrp="1"/>
          </p:cNvSpPr>
          <p:nvPr/>
        </p:nvSpPr>
        <p:spPr>
          <a:xfrm>
            <a:off x="9718834" y="6476048"/>
            <a:ext cx="7845266" cy="1005840"/>
          </a:xfrm>
          <a:prstGeom prst="roundRect">
            <a:avLst>
              <a:gd name="adj" fmla="val 3788"/>
            </a:avLst>
          </a:prstGeom>
          <a:solidFill>
            <a:srgbClr val="FFF4E3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C4F3FE-4B52-4C68-B09D-AF275F88E2E8}"/>
              </a:ext>
            </a:extLst>
          </p:cNvPr>
          <p:cNvSpPr>
            <a:spLocks noGrp="1"/>
          </p:cNvSpPr>
          <p:nvPr/>
        </p:nvSpPr>
        <p:spPr>
          <a:xfrm>
            <a:off x="9944100" y="6705600"/>
            <a:ext cx="7391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98610D"/>
                </a:solidFill>
              </a:defRPr>
            </a:pPr>
            <a:r>
              <a:rPr sz="1800" b="1">
                <a:solidFill>
                  <a:srgbClr val="98610D"/>
                </a:solidFill>
              </a:rPr>
              <a:t>这体现了 LSTM AutoEncoder 的优势：学习正常时序模式，对复杂波动和多维关联异常更敏感。</a:t>
            </a:r>
          </a:p>
        </p:txBody>
      </p:sp>
    </p:spTree>
    <p:extLst>
      <p:ext uri="{BB962C8B-B14F-4D97-AF65-F5344CB8AC3E}">
        <p14:creationId xmlns:p14="http://schemas.microsoft.com/office/powerpoint/2010/main" val="202699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bg">
            <a:extLst>
              <a:ext uri="{FF2B5EF4-FFF2-40B4-BE49-F238E27FC236}">
                <a16:creationId xmlns:a16="http://schemas.microsoft.com/office/drawing/2014/main" id="{7D9BF859-1E9D-476C-BB0A-45E94E5B39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B"/>
          </a:solidFill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7F0F34A-EA80-4F59-8E4E-C3DC81D6C4A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总结与展望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F7BF9B-9EC9-4703-9430-06627F2DE85C}"/>
              </a:ext>
            </a:extLst>
          </p:cNvPr>
          <p:cNvSpPr>
            <a:spLocks noGrp="1"/>
          </p:cNvSpPr>
          <p:nvPr/>
        </p:nvSpPr>
        <p:spPr>
          <a:xfrm>
            <a:off x="723900" y="1181100"/>
            <a:ext cx="5486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26274"/>
                </a:solidFill>
              </a:defRPr>
            </a:pPr>
            <a:r>
              <a:rPr sz="1800">
                <a:solidFill>
                  <a:srgbClr val="526274"/>
                </a:solidFill>
              </a:rPr>
              <a:t>本文实现了深度学习模型与燃气表运维业务流程的结合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AD033BCB-053F-4960-B699-43CDC999D0A5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428750" cy="47625"/>
          </a:xfrm>
          <a:prstGeom prst="rect">
            <a:avLst/>
          </a:prstGeom>
          <a:solidFill>
            <a:srgbClr val="1667B7"/>
          </a:solidFill>
          <a:ln w="0">
            <a:solidFill>
              <a:srgbClr val="1667B7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98828DB-A650-4E74-B182-1BD0BB767606}"/>
              </a:ext>
            </a:extLst>
          </p:cNvPr>
          <p:cNvSpPr>
            <a:spLocks noGrp="1"/>
          </p:cNvSpPr>
          <p:nvPr/>
        </p:nvSpPr>
        <p:spPr>
          <a:xfrm>
            <a:off x="723900" y="1861185"/>
            <a:ext cx="8258175" cy="7892415"/>
          </a:xfrm>
          <a:prstGeom prst="roundRect">
            <a:avLst>
              <a:gd name="adj" fmla="val 483"/>
            </a:avLst>
          </a:prstGeom>
          <a:solidFill>
            <a:srgbClr val="FFFFFF"/>
          </a:solidFill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559ECE-0EF1-4F96-B4F1-044ECCE50034}"/>
              </a:ext>
            </a:extLst>
          </p:cNvPr>
          <p:cNvSpPr>
            <a:spLocks noGrp="1"/>
          </p:cNvSpPr>
          <p:nvPr/>
        </p:nvSpPr>
        <p:spPr>
          <a:xfrm>
            <a:off x="1047750" y="4552950"/>
            <a:ext cx="7620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667B7"/>
                </a:solidFill>
              </a:defRPr>
            </a:pPr>
            <a:r>
              <a:rPr sz="2700" b="1">
                <a:solidFill>
                  <a:srgbClr val="1667B7"/>
                </a:solidFill>
              </a:rPr>
              <a:t>主要成果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B83A59DE-7ACE-47CD-902E-B648627CE820}"/>
              </a:ext>
            </a:extLst>
          </p:cNvPr>
          <p:cNvSpPr>
            <a:spLocks noGrp="1"/>
          </p:cNvSpPr>
          <p:nvPr/>
        </p:nvSpPr>
        <p:spPr>
          <a:xfrm>
            <a:off x="1047750" y="51625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构建了物联网智能燃气表异常检测系统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451915B7-6D46-4F43-A958-A129BD5F5E41}"/>
              </a:ext>
            </a:extLst>
          </p:cNvPr>
          <p:cNvSpPr>
            <a:spLocks noGrp="1"/>
          </p:cNvSpPr>
          <p:nvPr/>
        </p:nvSpPr>
        <p:spPr>
          <a:xfrm>
            <a:off x="1047750" y="55626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设计 LSTM AutoEncoder 多维时序异常检测模型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7E9EE679-47A8-4D30-BD33-FBA9B4DE9BA9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实现数据接入、实时推理、告警、工单和看板</a:t>
            </a:r>
          </a:p>
        </p:txBody>
      </p:sp>
      <p:sp>
        <p:nvSpPr>
          <p:cNvPr id="10" name="bullet-3">
            <a:extLst>
              <a:ext uri="{FF2B5EF4-FFF2-40B4-BE49-F238E27FC236}">
                <a16:creationId xmlns:a16="http://schemas.microsoft.com/office/drawing/2014/main" id="{60C26000-0B9D-4B17-AD1D-98FA85DF0B2C}"/>
              </a:ext>
            </a:extLst>
          </p:cNvPr>
          <p:cNvSpPr>
            <a:spLocks noGrp="1"/>
          </p:cNvSpPr>
          <p:nvPr/>
        </p:nvSpPr>
        <p:spPr>
          <a:xfrm>
            <a:off x="1047750" y="63817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实验表明 LSTM AE 的 F1-score 达到 0.852</a:t>
            </a:r>
          </a:p>
        </p:txBody>
      </p:sp>
      <p:sp>
        <p:nvSpPr>
          <p:cNvPr id="11" name="bullet-4">
            <a:extLst>
              <a:ext uri="{FF2B5EF4-FFF2-40B4-BE49-F238E27FC236}">
                <a16:creationId xmlns:a16="http://schemas.microsoft.com/office/drawing/2014/main" id="{B0530F37-B4E5-4ED6-BE2D-AE304E74476E}"/>
              </a:ext>
            </a:extLst>
          </p:cNvPr>
          <p:cNvSpPr>
            <a:spLocks noGrp="1"/>
          </p:cNvSpPr>
          <p:nvPr/>
        </p:nvSpPr>
        <p:spPr>
          <a:xfrm>
            <a:off x="1047750" y="67818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端到端平均响应时间 0.68s，满足秒级监测要求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66AD3A4-828A-48FC-A46A-DED5B133EC74}"/>
              </a:ext>
            </a:extLst>
          </p:cNvPr>
          <p:cNvSpPr>
            <a:spLocks noGrp="1"/>
          </p:cNvSpPr>
          <p:nvPr/>
        </p:nvSpPr>
        <p:spPr>
          <a:xfrm>
            <a:off x="9305925" y="1861185"/>
            <a:ext cx="8258175" cy="7892415"/>
          </a:xfrm>
          <a:prstGeom prst="roundRect">
            <a:avLst>
              <a:gd name="adj" fmla="val 483"/>
            </a:avLst>
          </a:prstGeom>
          <a:solidFill>
            <a:srgbClr val="FFFFFF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897AA4-A817-4B29-BF23-D37BFE72A81C}"/>
              </a:ext>
            </a:extLst>
          </p:cNvPr>
          <p:cNvSpPr>
            <a:spLocks noGrp="1"/>
          </p:cNvSpPr>
          <p:nvPr/>
        </p:nvSpPr>
        <p:spPr>
          <a:xfrm>
            <a:off x="9639300" y="4552950"/>
            <a:ext cx="7620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E9488"/>
                </a:solidFill>
              </a:defRPr>
            </a:pPr>
            <a:r>
              <a:rPr sz="2700" b="1">
                <a:solidFill>
                  <a:srgbClr val="0E9488"/>
                </a:solidFill>
              </a:rPr>
              <a:t>不足与展望</a:t>
            </a:r>
          </a:p>
        </p:txBody>
      </p:sp>
      <p:sp>
        <p:nvSpPr>
          <p:cNvPr id="14" name="bullet-0">
            <a:extLst>
              <a:ext uri="{FF2B5EF4-FFF2-40B4-BE49-F238E27FC236}">
                <a16:creationId xmlns:a16="http://schemas.microsoft.com/office/drawing/2014/main" id="{049AE497-0629-4A91-9100-6E780EAD4C47}"/>
              </a:ext>
            </a:extLst>
          </p:cNvPr>
          <p:cNvSpPr>
            <a:spLocks noGrp="1"/>
          </p:cNvSpPr>
          <p:nvPr/>
        </p:nvSpPr>
        <p:spPr>
          <a:xfrm>
            <a:off x="9639300" y="51625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当前主要基于模拟数据验证</a:t>
            </a:r>
          </a:p>
        </p:txBody>
      </p:sp>
      <p:sp>
        <p:nvSpPr>
          <p:cNvPr id="15" name="bullet-1">
            <a:extLst>
              <a:ext uri="{FF2B5EF4-FFF2-40B4-BE49-F238E27FC236}">
                <a16:creationId xmlns:a16="http://schemas.microsoft.com/office/drawing/2014/main" id="{C2E5923C-DF45-438C-94D0-8EEFB3D3A898}"/>
              </a:ext>
            </a:extLst>
          </p:cNvPr>
          <p:cNvSpPr>
            <a:spLocks noGrp="1"/>
          </p:cNvSpPr>
          <p:nvPr/>
        </p:nvSpPr>
        <p:spPr>
          <a:xfrm>
            <a:off x="9639300" y="55626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尚未在大规模真实燃气表网络中长期运行</a:t>
            </a:r>
          </a:p>
        </p:txBody>
      </p:sp>
      <p:sp>
        <p:nvSpPr>
          <p:cNvPr id="16" name="bullet-2">
            <a:extLst>
              <a:ext uri="{FF2B5EF4-FFF2-40B4-BE49-F238E27FC236}">
                <a16:creationId xmlns:a16="http://schemas.microsoft.com/office/drawing/2014/main" id="{809FE04F-E420-41D4-AEB1-9DC544125A6A}"/>
              </a:ext>
            </a:extLst>
          </p:cNvPr>
          <p:cNvSpPr>
            <a:spLocks noGrp="1"/>
          </p:cNvSpPr>
          <p:nvPr/>
        </p:nvSpPr>
        <p:spPr>
          <a:xfrm>
            <a:off x="9639300" y="59626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后续可接入真实企业数据提升泛化能力</a:t>
            </a:r>
          </a:p>
        </p:txBody>
      </p:sp>
      <p:sp>
        <p:nvSpPr>
          <p:cNvPr id="17" name="bullet-3">
            <a:extLst>
              <a:ext uri="{FF2B5EF4-FFF2-40B4-BE49-F238E27FC236}">
                <a16:creationId xmlns:a16="http://schemas.microsoft.com/office/drawing/2014/main" id="{655BCE05-2E13-4D6E-85F5-18CE92708DF7}"/>
              </a:ext>
            </a:extLst>
          </p:cNvPr>
          <p:cNvSpPr>
            <a:spLocks noGrp="1"/>
          </p:cNvSpPr>
          <p:nvPr/>
        </p:nvSpPr>
        <p:spPr>
          <a:xfrm>
            <a:off x="9639300" y="638175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可尝试 GRU AutoEncoder、Transformer 等模型</a:t>
            </a:r>
          </a:p>
        </p:txBody>
      </p:sp>
      <p:sp>
        <p:nvSpPr>
          <p:cNvPr id="18" name="bullet-4">
            <a:extLst>
              <a:ext uri="{FF2B5EF4-FFF2-40B4-BE49-F238E27FC236}">
                <a16:creationId xmlns:a16="http://schemas.microsoft.com/office/drawing/2014/main" id="{8286FF20-C296-463B-B53A-275018C0F183}"/>
              </a:ext>
            </a:extLst>
          </p:cNvPr>
          <p:cNvSpPr>
            <a:spLocks noGrp="1"/>
          </p:cNvSpPr>
          <p:nvPr/>
        </p:nvSpPr>
        <p:spPr>
          <a:xfrm>
            <a:off x="9639300" y="6781800"/>
            <a:ext cx="7620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2033"/>
                </a:solidFill>
              </a:defRPr>
            </a:pPr>
            <a:r>
              <a:rPr sz="1800">
                <a:solidFill>
                  <a:srgbClr val="102033"/>
                </a:solidFill>
              </a:rPr>
              <a:t>• 进一步增强异常类型解释能力和部署能力</a:t>
            </a:r>
          </a:p>
        </p:txBody>
      </p:sp>
    </p:spTree>
    <p:extLst>
      <p:ext uri="{BB962C8B-B14F-4D97-AF65-F5344CB8AC3E}">
        <p14:creationId xmlns:p14="http://schemas.microsoft.com/office/powerpoint/2010/main" val="10264721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Microsoft Office PowerPoint</Application>
  <DocSecurity>0</DocSecurity>
  <PresentationFormat>自定义</PresentationFormat>
  <Paragraphs>355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晨阳 王</cp:lastModifiedBy>
  <cp:revision>1</cp:revision>
  <dcterms:created xsi:type="dcterms:W3CDTF">2026-05-03T22:50:31Z</dcterms:created>
  <dcterms:modified xsi:type="dcterms:W3CDTF">2026-05-03T22:55:24Z</dcterms:modified>
</cp:coreProperties>
</file>